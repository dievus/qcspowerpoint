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99" d="100"/>
          <a:sy n="99" d="100"/>
        </p:scale>
        <p:origin x="84"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8B9EBBA-996F-894A-B54A-D6246ED52CEA}" type="datetimeFigureOut">
              <a:rPr lang="en-US" dirty="0"/>
              <a:pPr/>
              <a:t>6/20/2020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3A1323-8D79-1946-B0D7-40001CF92E9D}" type="datetimeFigureOut">
              <a:rPr lang="en-US" dirty="0"/>
              <a:pPr/>
              <a:t>6/20/2020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6/20/2020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302355-E14B-8545-A8F8-0FE83CC9D524}" type="datetimeFigureOut">
              <a:rPr lang="en-US" dirty="0"/>
              <a:pPr/>
              <a:t>6/20/2020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640F58-564D-2B4F-AE67-E407BA4FCF45}" type="datetimeFigureOut">
              <a:rPr lang="en-US" dirty="0"/>
              <a:pPr/>
              <a:t>6/20/2020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3A34C8-038E-2045-AF43-DF7DBB8E0E9E}" type="datetimeFigureOut">
              <a:rPr lang="en-US" dirty="0"/>
              <a:pPr/>
              <a:t>6/20/2020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18C68F-D26B-8F47-958C-23B49CF8A634}" type="datetimeFigureOut">
              <a:rPr lang="en-US" dirty="0"/>
              <a:pPr/>
              <a:t>6/20/2020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DF5E60-9974-AC48-9591-99C2BB44B7CF}" type="datetimeFigureOut">
              <a:rPr lang="en-US" dirty="0"/>
              <a:pPr/>
              <a:t>6/20/2020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18C79C5D-2A6F-F04D-97DA-BEF2467B64E4}" type="datetimeFigureOut">
              <a:rPr lang="en-US" dirty="0"/>
              <a:pPr/>
              <a:t>6/20/2020</a:t>
            </a:fld>
            <a:endParaRPr lang="en-US" dirty="0"/>
          </a:p>
        </p:txBody>
      </p:sp>
      <p:sp>
        <p:nvSpPr>
          <p:cNvPr id="6" name="Footer Placeholder 5"/>
          <p:cNvSpPr>
            <a:spLocks noGrp="1"/>
          </p:cNvSpPr>
          <p:nvPr>
            <p:ph type="ftr" sz="quarter" idx="11"/>
          </p:nvPr>
        </p:nvSpPr>
        <p:spPr>
          <a:xfrm>
            <a:off x="590396" y="6041362"/>
            <a:ext cx="3295413" cy="365125"/>
          </a:xfrm>
        </p:spPr>
        <p:txBody>
          <a:bodyPr/>
          <a:lstStyle/>
          <a:p>
            <a:endParaRPr lang="en-US" dirty="0"/>
          </a:p>
        </p:txBody>
      </p:sp>
      <p:sp>
        <p:nvSpPr>
          <p:cNvPr id="7" name="Slide Number Placeholder 6"/>
          <p:cNvSpPr>
            <a:spLocks noGrp="1"/>
          </p:cNvSpPr>
          <p:nvPr>
            <p:ph type="sldNum" sz="quarter" idx="12"/>
          </p:nvPr>
        </p:nvSpPr>
        <p:spPr>
          <a:xfrm>
            <a:off x="4862689" y="5915888"/>
            <a:ext cx="1062155" cy="490599"/>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a:t>Click icon to add picture</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C79C5D-2A6F-F04D-97DA-BEF2467B64E4}" type="datetimeFigureOut">
              <a:rPr lang="en-US" dirty="0"/>
              <a:pPr/>
              <a:t>6/20/2020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6/20/2020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FBF54567-0DE4-3F47-BF90-CB84690072F9}" type="datetimeFigureOut">
              <a:rPr lang="en-US" dirty="0"/>
              <a:pPr/>
              <a:t>6/20/2020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C52C72-DE31-F449-A4ED-4C594FD91407}" type="datetimeFigureOut">
              <a:rPr lang="en-US" dirty="0"/>
              <a:pPr/>
              <a:t>6/20/2020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62726E-379B-B349-9EED-81ED093FA806}" type="datetimeFigureOut">
              <a:rPr lang="en-US" dirty="0"/>
              <a:pPr/>
              <a:t>6/20/2020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dirty="0"/>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09B482E8-6E0E-1B4F-B1FD-C69DB9E858D9}" type="datetimeFigureOut">
              <a:rPr lang="en-US" dirty="0"/>
              <a:pPr/>
              <a:t>6/20/2020</a:t>
            </a:fld>
            <a:endParaRPr lang="en-US"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3" r:id="rId9"/>
    <p:sldLayoutId id="2147483657" r:id="rId10"/>
    <p:sldLayoutId id="2147483666" r:id="rId11"/>
    <p:sldLayoutId id="2147483661" r:id="rId12"/>
    <p:sldLayoutId id="2147483658" r:id="rId13"/>
    <p:sldLayoutId id="2147483659" r:id="rId14"/>
  </p:sldLayoutIdLst>
  <p:hf sldNum="0" hdr="0" ftr="0" dt="0"/>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github.com/dievus/bufferoverflow"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hyperlink" Target="https://twitch.tv/themayor11/" TargetMode="External"/><Relationship Id="rId7" Type="http://schemas.openxmlformats.org/officeDocument/2006/relationships/hyperlink" Target="https://cybersecpadawan.com/" TargetMode="External"/><Relationship Id="rId2" Type="http://schemas.openxmlformats.org/officeDocument/2006/relationships/hyperlink" Target="https://twitter.com/joehelle" TargetMode="External"/><Relationship Id="rId1" Type="http://schemas.openxmlformats.org/officeDocument/2006/relationships/slideLayout" Target="../slideLayouts/slideLayout2.xml"/><Relationship Id="rId6" Type="http://schemas.openxmlformats.org/officeDocument/2006/relationships/hyperlink" Target="https://github.com/dievus/QCSpowerpoint" TargetMode="External"/><Relationship Id="rId5" Type="http://schemas.openxmlformats.org/officeDocument/2006/relationships/hyperlink" Target="https://github.com/dievus/bufferoverflow" TargetMode="External"/><Relationship Id="rId4" Type="http://schemas.openxmlformats.org/officeDocument/2006/relationships/hyperlink" Target="https://discord.gg/uzFuSmC"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0C271-2DCC-4F3C-A8A8-5CC8E47B20DA}"/>
              </a:ext>
            </a:extLst>
          </p:cNvPr>
          <p:cNvSpPr>
            <a:spLocks noGrp="1"/>
          </p:cNvSpPr>
          <p:nvPr>
            <p:ph type="ctrTitle"/>
          </p:nvPr>
        </p:nvSpPr>
        <p:spPr/>
        <p:txBody>
          <a:bodyPr/>
          <a:lstStyle/>
          <a:p>
            <a:r>
              <a:rPr lang="en-US" dirty="0"/>
              <a:t>Ruby Buffer Overflow Exploitation</a:t>
            </a:r>
          </a:p>
        </p:txBody>
      </p:sp>
      <p:sp>
        <p:nvSpPr>
          <p:cNvPr id="3" name="Subtitle 2">
            <a:extLst>
              <a:ext uri="{FF2B5EF4-FFF2-40B4-BE49-F238E27FC236}">
                <a16:creationId xmlns:a16="http://schemas.microsoft.com/office/drawing/2014/main" id="{60F3492D-A9E2-42A0-A6D5-C9921E0966F4}"/>
              </a:ext>
            </a:extLst>
          </p:cNvPr>
          <p:cNvSpPr>
            <a:spLocks noGrp="1"/>
          </p:cNvSpPr>
          <p:nvPr>
            <p:ph type="subTitle" idx="1"/>
          </p:nvPr>
        </p:nvSpPr>
        <p:spPr>
          <a:xfrm>
            <a:off x="810001" y="5230046"/>
            <a:ext cx="10572000" cy="1539054"/>
          </a:xfrm>
        </p:spPr>
        <p:txBody>
          <a:bodyPr>
            <a:normAutofit/>
          </a:bodyPr>
          <a:lstStyle/>
          <a:p>
            <a:r>
              <a:rPr lang="en-US" dirty="0"/>
              <a:t>Joe Helle, </a:t>
            </a:r>
            <a:r>
              <a:rPr lang="en-US" dirty="0" err="1"/>
              <a:t>a.k.a</a:t>
            </a:r>
            <a:r>
              <a:rPr lang="en-US" dirty="0"/>
              <a:t> The Mayor</a:t>
            </a:r>
          </a:p>
          <a:p>
            <a:r>
              <a:rPr lang="en-US" dirty="0" err="1"/>
              <a:t>eCPPT</a:t>
            </a:r>
            <a:r>
              <a:rPr lang="en-US" dirty="0"/>
              <a:t>, Sec+, SSCP</a:t>
            </a:r>
          </a:p>
          <a:p>
            <a:r>
              <a:rPr lang="en-US" dirty="0"/>
              <a:t>June 20, 2020</a:t>
            </a:r>
            <a:br>
              <a:rPr lang="en-US" dirty="0"/>
            </a:br>
            <a:endParaRPr lang="en-US" dirty="0"/>
          </a:p>
          <a:p>
            <a:endParaRPr lang="en-US" dirty="0"/>
          </a:p>
        </p:txBody>
      </p:sp>
    </p:spTree>
    <p:extLst>
      <p:ext uri="{BB962C8B-B14F-4D97-AF65-F5344CB8AC3E}">
        <p14:creationId xmlns:p14="http://schemas.microsoft.com/office/powerpoint/2010/main" val="1966364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C529D-E596-4DA3-A585-2468EE8C626E}"/>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D9EA7E43-BFF7-46BA-8747-5CE6E2011E7A}"/>
              </a:ext>
            </a:extLst>
          </p:cNvPr>
          <p:cNvSpPr>
            <a:spLocks noGrp="1"/>
          </p:cNvSpPr>
          <p:nvPr>
            <p:ph idx="1"/>
          </p:nvPr>
        </p:nvSpPr>
        <p:spPr>
          <a:xfrm>
            <a:off x="818712" y="1384301"/>
            <a:ext cx="10554574" cy="4982498"/>
          </a:xfrm>
        </p:spPr>
        <p:txBody>
          <a:bodyPr>
            <a:normAutofit/>
          </a:bodyPr>
          <a:lstStyle/>
          <a:p>
            <a:r>
              <a:rPr lang="en-US" sz="2400" dirty="0"/>
              <a:t>Resource Coverage</a:t>
            </a:r>
          </a:p>
          <a:p>
            <a:r>
              <a:rPr lang="en-US" sz="2400" dirty="0"/>
              <a:t>100,000-foot overview of Buffer Overflow Exploitation</a:t>
            </a:r>
          </a:p>
          <a:p>
            <a:r>
              <a:rPr lang="en-US" sz="2400" dirty="0"/>
              <a:t>Enumeration</a:t>
            </a:r>
          </a:p>
          <a:p>
            <a:r>
              <a:rPr lang="en-US" sz="2400" dirty="0"/>
              <a:t>Exploit Development</a:t>
            </a:r>
          </a:p>
          <a:p>
            <a:r>
              <a:rPr lang="en-US" sz="2400" dirty="0"/>
              <a:t>Exploitation</a:t>
            </a:r>
          </a:p>
          <a:p>
            <a:r>
              <a:rPr lang="en-US" sz="2400" dirty="0"/>
              <a:t>Questions – As well as throughout the presentation</a:t>
            </a:r>
          </a:p>
        </p:txBody>
      </p:sp>
    </p:spTree>
    <p:extLst>
      <p:ext uri="{BB962C8B-B14F-4D97-AF65-F5344CB8AC3E}">
        <p14:creationId xmlns:p14="http://schemas.microsoft.com/office/powerpoint/2010/main" val="25980412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3D907-9CA9-4CEC-9729-8F22770E64A8}"/>
              </a:ext>
            </a:extLst>
          </p:cNvPr>
          <p:cNvSpPr>
            <a:spLocks noGrp="1"/>
          </p:cNvSpPr>
          <p:nvPr>
            <p:ph type="title"/>
          </p:nvPr>
        </p:nvSpPr>
        <p:spPr/>
        <p:txBody>
          <a:bodyPr/>
          <a:lstStyle/>
          <a:p>
            <a:r>
              <a:rPr lang="en-US" dirty="0"/>
              <a:t>Resources</a:t>
            </a:r>
          </a:p>
        </p:txBody>
      </p:sp>
      <p:sp>
        <p:nvSpPr>
          <p:cNvPr id="3" name="Content Placeholder 2">
            <a:extLst>
              <a:ext uri="{FF2B5EF4-FFF2-40B4-BE49-F238E27FC236}">
                <a16:creationId xmlns:a16="http://schemas.microsoft.com/office/drawing/2014/main" id="{4ABEC85F-D3C3-4D22-85EB-EA1FBBCFA92E}"/>
              </a:ext>
            </a:extLst>
          </p:cNvPr>
          <p:cNvSpPr>
            <a:spLocks noGrp="1"/>
          </p:cNvSpPr>
          <p:nvPr>
            <p:ph idx="1"/>
          </p:nvPr>
        </p:nvSpPr>
        <p:spPr>
          <a:xfrm>
            <a:off x="818712" y="2298487"/>
            <a:ext cx="10554574" cy="3636511"/>
          </a:xfrm>
        </p:spPr>
        <p:txBody>
          <a:bodyPr/>
          <a:lstStyle/>
          <a:p>
            <a:r>
              <a:rPr lang="en-US" sz="2400" dirty="0" err="1"/>
              <a:t>Github</a:t>
            </a:r>
            <a:r>
              <a:rPr lang="en-US" sz="2400" dirty="0"/>
              <a:t> Ruby Buffer Overflow Resources</a:t>
            </a:r>
          </a:p>
          <a:p>
            <a:pPr lvl="1"/>
            <a:r>
              <a:rPr lang="en-US" sz="2400" dirty="0">
                <a:hlinkClick r:id="rId2"/>
              </a:rPr>
              <a:t>https://github.com/dievus/bufferoverflow</a:t>
            </a:r>
            <a:endParaRPr lang="en-US" sz="2400" dirty="0"/>
          </a:p>
          <a:p>
            <a:r>
              <a:rPr lang="en-US" sz="2400" dirty="0"/>
              <a:t>Today’s Lab – Gatekeeper; Free lab at </a:t>
            </a:r>
            <a:r>
              <a:rPr lang="en-US" sz="2400" dirty="0" err="1"/>
              <a:t>TryHackMe</a:t>
            </a:r>
            <a:r>
              <a:rPr lang="en-US" sz="2400" dirty="0"/>
              <a:t> developed by me</a:t>
            </a:r>
          </a:p>
          <a:p>
            <a:pPr lvl="1"/>
            <a:r>
              <a:rPr lang="en-US" sz="2400" dirty="0"/>
              <a:t>https://tryhackme.com/room/gatekeeper</a:t>
            </a:r>
          </a:p>
          <a:p>
            <a:r>
              <a:rPr lang="en-US" sz="2600" dirty="0"/>
              <a:t>Derived from </a:t>
            </a:r>
            <a:r>
              <a:rPr lang="en-US" sz="2600" dirty="0" err="1"/>
              <a:t>Dostackbufferoverflowgood</a:t>
            </a:r>
            <a:endParaRPr lang="en-US" sz="2600" dirty="0"/>
          </a:p>
          <a:p>
            <a:pPr lvl="1"/>
            <a:r>
              <a:rPr lang="en-US" sz="2400" dirty="0"/>
              <a:t>https://github.com/justinsteven/dostackbufferoverflowgood</a:t>
            </a:r>
          </a:p>
          <a:p>
            <a:endParaRPr lang="en-US" dirty="0"/>
          </a:p>
        </p:txBody>
      </p:sp>
    </p:spTree>
    <p:extLst>
      <p:ext uri="{BB962C8B-B14F-4D97-AF65-F5344CB8AC3E}">
        <p14:creationId xmlns:p14="http://schemas.microsoft.com/office/powerpoint/2010/main" val="4376068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BE72E-4FB4-4460-9438-E87DA83F521C}"/>
              </a:ext>
            </a:extLst>
          </p:cNvPr>
          <p:cNvSpPr>
            <a:spLocks noGrp="1"/>
          </p:cNvSpPr>
          <p:nvPr>
            <p:ph type="title"/>
          </p:nvPr>
        </p:nvSpPr>
        <p:spPr/>
        <p:txBody>
          <a:bodyPr/>
          <a:lstStyle/>
          <a:p>
            <a:r>
              <a:rPr lang="en-US"/>
              <a:t>100,000-Foot Overview</a:t>
            </a:r>
            <a:endParaRPr lang="en-US" dirty="0"/>
          </a:p>
        </p:txBody>
      </p:sp>
      <p:sp>
        <p:nvSpPr>
          <p:cNvPr id="11" name="Rectangle: Rounded Corners 10">
            <a:extLst>
              <a:ext uri="{FF2B5EF4-FFF2-40B4-BE49-F238E27FC236}">
                <a16:creationId xmlns:a16="http://schemas.microsoft.com/office/drawing/2014/main" id="{21084365-6221-414B-B80D-2BF9B009041E}"/>
              </a:ext>
            </a:extLst>
          </p:cNvPr>
          <p:cNvSpPr/>
          <p:nvPr/>
        </p:nvSpPr>
        <p:spPr>
          <a:xfrm>
            <a:off x="940526" y="3429000"/>
            <a:ext cx="4558937" cy="9704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4010F1BB-3799-49E5-9279-15FD09810156}"/>
              </a:ext>
            </a:extLst>
          </p:cNvPr>
          <p:cNvSpPr txBox="1"/>
          <p:nvPr/>
        </p:nvSpPr>
        <p:spPr>
          <a:xfrm>
            <a:off x="1107654" y="3621837"/>
            <a:ext cx="4391809" cy="584775"/>
          </a:xfrm>
          <a:prstGeom prst="rect">
            <a:avLst/>
          </a:prstGeom>
          <a:noFill/>
        </p:spPr>
        <p:txBody>
          <a:bodyPr wrap="square" rtlCol="0">
            <a:spAutoFit/>
          </a:bodyPr>
          <a:lstStyle/>
          <a:p>
            <a:pPr algn="ctr"/>
            <a:r>
              <a:rPr lang="en-US" sz="3200" b="1" dirty="0"/>
              <a:t>Data Input Function</a:t>
            </a:r>
          </a:p>
        </p:txBody>
      </p:sp>
      <p:sp>
        <p:nvSpPr>
          <p:cNvPr id="14" name="Rectangle: Rounded Corners 13">
            <a:extLst>
              <a:ext uri="{FF2B5EF4-FFF2-40B4-BE49-F238E27FC236}">
                <a16:creationId xmlns:a16="http://schemas.microsoft.com/office/drawing/2014/main" id="{B5BE09A9-DCC0-4FA6-BCF6-5BF1A8DAB4CA}"/>
              </a:ext>
            </a:extLst>
          </p:cNvPr>
          <p:cNvSpPr/>
          <p:nvPr/>
        </p:nvSpPr>
        <p:spPr>
          <a:xfrm>
            <a:off x="6311900" y="3429000"/>
            <a:ext cx="584200" cy="9704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DAD6F600-E208-4482-BED9-1B0A5D11931D}"/>
              </a:ext>
            </a:extLst>
          </p:cNvPr>
          <p:cNvSpPr/>
          <p:nvPr/>
        </p:nvSpPr>
        <p:spPr>
          <a:xfrm>
            <a:off x="7073537" y="3429000"/>
            <a:ext cx="584200" cy="9704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75A2369A-A21E-4F9D-905B-9A2ED2F0C944}"/>
              </a:ext>
            </a:extLst>
          </p:cNvPr>
          <p:cNvSpPr/>
          <p:nvPr/>
        </p:nvSpPr>
        <p:spPr>
          <a:xfrm>
            <a:off x="7860211" y="3429000"/>
            <a:ext cx="584200" cy="9704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97ED7ED1-5974-4185-AF3D-1995E45ABB0B}"/>
              </a:ext>
            </a:extLst>
          </p:cNvPr>
          <p:cNvSpPr/>
          <p:nvPr/>
        </p:nvSpPr>
        <p:spPr>
          <a:xfrm>
            <a:off x="8621848" y="3429000"/>
            <a:ext cx="584200" cy="9704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5599F269-B194-4B44-9FA0-634FC10F4613}"/>
              </a:ext>
            </a:extLst>
          </p:cNvPr>
          <p:cNvSpPr/>
          <p:nvPr/>
        </p:nvSpPr>
        <p:spPr>
          <a:xfrm>
            <a:off x="9383485" y="3429000"/>
            <a:ext cx="584200" cy="9704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Rounded Corners 21">
            <a:extLst>
              <a:ext uri="{FF2B5EF4-FFF2-40B4-BE49-F238E27FC236}">
                <a16:creationId xmlns:a16="http://schemas.microsoft.com/office/drawing/2014/main" id="{B998A1DC-055D-4DEB-A1E1-0176298922AF}"/>
              </a:ext>
            </a:extLst>
          </p:cNvPr>
          <p:cNvSpPr/>
          <p:nvPr/>
        </p:nvSpPr>
        <p:spPr>
          <a:xfrm>
            <a:off x="10145122" y="3429000"/>
            <a:ext cx="584200" cy="9704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260630B7-7D1A-40BF-A4CE-0A94F72476F5}"/>
              </a:ext>
            </a:extLst>
          </p:cNvPr>
          <p:cNvSpPr txBox="1"/>
          <p:nvPr/>
        </p:nvSpPr>
        <p:spPr>
          <a:xfrm>
            <a:off x="1955800" y="4889500"/>
            <a:ext cx="8189322" cy="646331"/>
          </a:xfrm>
          <a:prstGeom prst="rect">
            <a:avLst/>
          </a:prstGeom>
          <a:noFill/>
        </p:spPr>
        <p:txBody>
          <a:bodyPr wrap="square" rtlCol="0">
            <a:spAutoFit/>
          </a:bodyPr>
          <a:lstStyle/>
          <a:p>
            <a:r>
              <a:rPr lang="en-US" dirty="0"/>
              <a:t>Have you ever filled in a text box in an application, and were limited to a certain amount of characters?  This is an example of an “input buffer.”</a:t>
            </a:r>
          </a:p>
        </p:txBody>
      </p:sp>
    </p:spTree>
    <p:extLst>
      <p:ext uri="{BB962C8B-B14F-4D97-AF65-F5344CB8AC3E}">
        <p14:creationId xmlns:p14="http://schemas.microsoft.com/office/powerpoint/2010/main" val="3308212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BE72E-4FB4-4460-9438-E87DA83F521C}"/>
              </a:ext>
            </a:extLst>
          </p:cNvPr>
          <p:cNvSpPr>
            <a:spLocks noGrp="1"/>
          </p:cNvSpPr>
          <p:nvPr>
            <p:ph type="title"/>
          </p:nvPr>
        </p:nvSpPr>
        <p:spPr/>
        <p:txBody>
          <a:bodyPr/>
          <a:lstStyle/>
          <a:p>
            <a:r>
              <a:rPr lang="en-US"/>
              <a:t>100,000-Foot Overview</a:t>
            </a:r>
            <a:endParaRPr lang="en-US" dirty="0"/>
          </a:p>
        </p:txBody>
      </p:sp>
      <p:sp>
        <p:nvSpPr>
          <p:cNvPr id="11" name="Rectangle: Rounded Corners 10">
            <a:extLst>
              <a:ext uri="{FF2B5EF4-FFF2-40B4-BE49-F238E27FC236}">
                <a16:creationId xmlns:a16="http://schemas.microsoft.com/office/drawing/2014/main" id="{21084365-6221-414B-B80D-2BF9B009041E}"/>
              </a:ext>
            </a:extLst>
          </p:cNvPr>
          <p:cNvSpPr/>
          <p:nvPr/>
        </p:nvSpPr>
        <p:spPr>
          <a:xfrm>
            <a:off x="940526" y="3429000"/>
            <a:ext cx="4558937" cy="9704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4010F1BB-3799-49E5-9279-15FD09810156}"/>
              </a:ext>
            </a:extLst>
          </p:cNvPr>
          <p:cNvSpPr txBox="1"/>
          <p:nvPr/>
        </p:nvSpPr>
        <p:spPr>
          <a:xfrm>
            <a:off x="1107654" y="3621837"/>
            <a:ext cx="4391809" cy="584775"/>
          </a:xfrm>
          <a:prstGeom prst="rect">
            <a:avLst/>
          </a:prstGeom>
          <a:noFill/>
        </p:spPr>
        <p:txBody>
          <a:bodyPr wrap="square" rtlCol="0">
            <a:spAutoFit/>
          </a:bodyPr>
          <a:lstStyle/>
          <a:p>
            <a:pPr algn="ctr"/>
            <a:r>
              <a:rPr lang="en-US" sz="3200" b="1" dirty="0"/>
              <a:t>Last Name</a:t>
            </a:r>
          </a:p>
        </p:txBody>
      </p:sp>
      <p:sp>
        <p:nvSpPr>
          <p:cNvPr id="14" name="Rectangle: Rounded Corners 13">
            <a:extLst>
              <a:ext uri="{FF2B5EF4-FFF2-40B4-BE49-F238E27FC236}">
                <a16:creationId xmlns:a16="http://schemas.microsoft.com/office/drawing/2014/main" id="{B5BE09A9-DCC0-4FA6-BCF6-5BF1A8DAB4CA}"/>
              </a:ext>
            </a:extLst>
          </p:cNvPr>
          <p:cNvSpPr/>
          <p:nvPr/>
        </p:nvSpPr>
        <p:spPr>
          <a:xfrm>
            <a:off x="6311900" y="3429000"/>
            <a:ext cx="584200" cy="9704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DAD6F600-E208-4482-BED9-1B0A5D11931D}"/>
              </a:ext>
            </a:extLst>
          </p:cNvPr>
          <p:cNvSpPr/>
          <p:nvPr/>
        </p:nvSpPr>
        <p:spPr>
          <a:xfrm>
            <a:off x="7073537" y="3429000"/>
            <a:ext cx="584200" cy="9704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75A2369A-A21E-4F9D-905B-9A2ED2F0C944}"/>
              </a:ext>
            </a:extLst>
          </p:cNvPr>
          <p:cNvSpPr/>
          <p:nvPr/>
        </p:nvSpPr>
        <p:spPr>
          <a:xfrm>
            <a:off x="7860211" y="3429000"/>
            <a:ext cx="584200" cy="9704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97ED7ED1-5974-4185-AF3D-1995E45ABB0B}"/>
              </a:ext>
            </a:extLst>
          </p:cNvPr>
          <p:cNvSpPr/>
          <p:nvPr/>
        </p:nvSpPr>
        <p:spPr>
          <a:xfrm>
            <a:off x="8621848" y="3429000"/>
            <a:ext cx="584200" cy="9704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5599F269-B194-4B44-9FA0-634FC10F4613}"/>
              </a:ext>
            </a:extLst>
          </p:cNvPr>
          <p:cNvSpPr/>
          <p:nvPr/>
        </p:nvSpPr>
        <p:spPr>
          <a:xfrm>
            <a:off x="9383485" y="3429000"/>
            <a:ext cx="584200" cy="9704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Rounded Corners 21">
            <a:extLst>
              <a:ext uri="{FF2B5EF4-FFF2-40B4-BE49-F238E27FC236}">
                <a16:creationId xmlns:a16="http://schemas.microsoft.com/office/drawing/2014/main" id="{B998A1DC-055D-4DEB-A1E1-0176298922AF}"/>
              </a:ext>
            </a:extLst>
          </p:cNvPr>
          <p:cNvSpPr/>
          <p:nvPr/>
        </p:nvSpPr>
        <p:spPr>
          <a:xfrm>
            <a:off x="10145122" y="3429000"/>
            <a:ext cx="584200" cy="9704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260630B7-7D1A-40BF-A4CE-0A94F72476F5}"/>
              </a:ext>
            </a:extLst>
          </p:cNvPr>
          <p:cNvSpPr txBox="1"/>
          <p:nvPr/>
        </p:nvSpPr>
        <p:spPr>
          <a:xfrm>
            <a:off x="1955800" y="4889500"/>
            <a:ext cx="8189322" cy="646331"/>
          </a:xfrm>
          <a:prstGeom prst="rect">
            <a:avLst/>
          </a:prstGeom>
          <a:noFill/>
        </p:spPr>
        <p:txBody>
          <a:bodyPr wrap="square" rtlCol="0">
            <a:spAutoFit/>
          </a:bodyPr>
          <a:lstStyle/>
          <a:p>
            <a:r>
              <a:rPr lang="en-US" dirty="0"/>
              <a:t>The above data entry point has a 24 byte allowance, and only 20 bytes are used.  The value proceeds as expected.</a:t>
            </a:r>
          </a:p>
        </p:txBody>
      </p:sp>
      <p:sp>
        <p:nvSpPr>
          <p:cNvPr id="3" name="TextBox 2">
            <a:extLst>
              <a:ext uri="{FF2B5EF4-FFF2-40B4-BE49-F238E27FC236}">
                <a16:creationId xmlns:a16="http://schemas.microsoft.com/office/drawing/2014/main" id="{3C3A9BAD-9393-490F-A6A3-168B1254C9E5}"/>
              </a:ext>
            </a:extLst>
          </p:cNvPr>
          <p:cNvSpPr txBox="1"/>
          <p:nvPr/>
        </p:nvSpPr>
        <p:spPr>
          <a:xfrm>
            <a:off x="6311900" y="3606800"/>
            <a:ext cx="584200" cy="584775"/>
          </a:xfrm>
          <a:prstGeom prst="rect">
            <a:avLst/>
          </a:prstGeom>
          <a:noFill/>
        </p:spPr>
        <p:txBody>
          <a:bodyPr wrap="square" rtlCol="0">
            <a:spAutoFit/>
          </a:bodyPr>
          <a:lstStyle/>
          <a:p>
            <a:pPr algn="ctr"/>
            <a:r>
              <a:rPr lang="en-US" sz="3200" b="1" dirty="0"/>
              <a:t>H</a:t>
            </a:r>
          </a:p>
        </p:txBody>
      </p:sp>
      <p:sp>
        <p:nvSpPr>
          <p:cNvPr id="13" name="TextBox 12">
            <a:extLst>
              <a:ext uri="{FF2B5EF4-FFF2-40B4-BE49-F238E27FC236}">
                <a16:creationId xmlns:a16="http://schemas.microsoft.com/office/drawing/2014/main" id="{2387BC49-3C2B-40CC-A80B-5BCE2C26DEAC}"/>
              </a:ext>
            </a:extLst>
          </p:cNvPr>
          <p:cNvSpPr txBox="1"/>
          <p:nvPr/>
        </p:nvSpPr>
        <p:spPr>
          <a:xfrm>
            <a:off x="7073537" y="3621837"/>
            <a:ext cx="584200" cy="584775"/>
          </a:xfrm>
          <a:prstGeom prst="rect">
            <a:avLst/>
          </a:prstGeom>
          <a:noFill/>
        </p:spPr>
        <p:txBody>
          <a:bodyPr wrap="square" rtlCol="0">
            <a:spAutoFit/>
          </a:bodyPr>
          <a:lstStyle/>
          <a:p>
            <a:pPr algn="ctr"/>
            <a:r>
              <a:rPr lang="en-US" sz="3200" b="1" dirty="0"/>
              <a:t>E</a:t>
            </a:r>
          </a:p>
        </p:txBody>
      </p:sp>
      <p:sp>
        <p:nvSpPr>
          <p:cNvPr id="15" name="TextBox 14">
            <a:extLst>
              <a:ext uri="{FF2B5EF4-FFF2-40B4-BE49-F238E27FC236}">
                <a16:creationId xmlns:a16="http://schemas.microsoft.com/office/drawing/2014/main" id="{BCD86F68-88D3-4719-BE66-EC76DF628D93}"/>
              </a:ext>
            </a:extLst>
          </p:cNvPr>
          <p:cNvSpPr txBox="1"/>
          <p:nvPr/>
        </p:nvSpPr>
        <p:spPr>
          <a:xfrm>
            <a:off x="7885248" y="3621837"/>
            <a:ext cx="584200" cy="584775"/>
          </a:xfrm>
          <a:prstGeom prst="rect">
            <a:avLst/>
          </a:prstGeom>
          <a:noFill/>
        </p:spPr>
        <p:txBody>
          <a:bodyPr wrap="square" rtlCol="0">
            <a:spAutoFit/>
          </a:bodyPr>
          <a:lstStyle/>
          <a:p>
            <a:pPr algn="ctr"/>
            <a:r>
              <a:rPr lang="en-US" sz="3200" b="1" dirty="0"/>
              <a:t>L</a:t>
            </a:r>
          </a:p>
        </p:txBody>
      </p:sp>
      <p:sp>
        <p:nvSpPr>
          <p:cNvPr id="17" name="TextBox 16">
            <a:extLst>
              <a:ext uri="{FF2B5EF4-FFF2-40B4-BE49-F238E27FC236}">
                <a16:creationId xmlns:a16="http://schemas.microsoft.com/office/drawing/2014/main" id="{3E04DF77-EEAF-4B2D-95C1-33E62CB042D2}"/>
              </a:ext>
            </a:extLst>
          </p:cNvPr>
          <p:cNvSpPr txBox="1"/>
          <p:nvPr/>
        </p:nvSpPr>
        <p:spPr>
          <a:xfrm>
            <a:off x="8646885" y="3636874"/>
            <a:ext cx="584200" cy="584775"/>
          </a:xfrm>
          <a:prstGeom prst="rect">
            <a:avLst/>
          </a:prstGeom>
          <a:noFill/>
        </p:spPr>
        <p:txBody>
          <a:bodyPr wrap="square" rtlCol="0">
            <a:spAutoFit/>
          </a:bodyPr>
          <a:lstStyle/>
          <a:p>
            <a:pPr algn="ctr"/>
            <a:r>
              <a:rPr lang="en-US" sz="3200" b="1" dirty="0"/>
              <a:t>L</a:t>
            </a:r>
          </a:p>
        </p:txBody>
      </p:sp>
      <p:sp>
        <p:nvSpPr>
          <p:cNvPr id="23" name="TextBox 22">
            <a:extLst>
              <a:ext uri="{FF2B5EF4-FFF2-40B4-BE49-F238E27FC236}">
                <a16:creationId xmlns:a16="http://schemas.microsoft.com/office/drawing/2014/main" id="{1E15B1A7-DD9A-40F5-B29A-29B22AD433BB}"/>
              </a:ext>
            </a:extLst>
          </p:cNvPr>
          <p:cNvSpPr txBox="1"/>
          <p:nvPr/>
        </p:nvSpPr>
        <p:spPr>
          <a:xfrm>
            <a:off x="9383485" y="3621837"/>
            <a:ext cx="584200" cy="584775"/>
          </a:xfrm>
          <a:prstGeom prst="rect">
            <a:avLst/>
          </a:prstGeom>
          <a:noFill/>
        </p:spPr>
        <p:txBody>
          <a:bodyPr wrap="square" rtlCol="0">
            <a:spAutoFit/>
          </a:bodyPr>
          <a:lstStyle/>
          <a:p>
            <a:pPr algn="ctr"/>
            <a:r>
              <a:rPr lang="en-US" sz="3200" b="1" dirty="0"/>
              <a:t>E</a:t>
            </a:r>
          </a:p>
        </p:txBody>
      </p:sp>
    </p:spTree>
    <p:extLst>
      <p:ext uri="{BB962C8B-B14F-4D97-AF65-F5344CB8AC3E}">
        <p14:creationId xmlns:p14="http://schemas.microsoft.com/office/powerpoint/2010/main" val="1614308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BE72E-4FB4-4460-9438-E87DA83F521C}"/>
              </a:ext>
            </a:extLst>
          </p:cNvPr>
          <p:cNvSpPr>
            <a:spLocks noGrp="1"/>
          </p:cNvSpPr>
          <p:nvPr>
            <p:ph type="title"/>
          </p:nvPr>
        </p:nvSpPr>
        <p:spPr/>
        <p:txBody>
          <a:bodyPr/>
          <a:lstStyle/>
          <a:p>
            <a:r>
              <a:rPr lang="en-US"/>
              <a:t>100,000-Foot Overview</a:t>
            </a:r>
            <a:endParaRPr lang="en-US" dirty="0"/>
          </a:p>
        </p:txBody>
      </p:sp>
      <p:sp>
        <p:nvSpPr>
          <p:cNvPr id="11" name="Rectangle: Rounded Corners 10">
            <a:extLst>
              <a:ext uri="{FF2B5EF4-FFF2-40B4-BE49-F238E27FC236}">
                <a16:creationId xmlns:a16="http://schemas.microsoft.com/office/drawing/2014/main" id="{21084365-6221-414B-B80D-2BF9B009041E}"/>
              </a:ext>
            </a:extLst>
          </p:cNvPr>
          <p:cNvSpPr/>
          <p:nvPr/>
        </p:nvSpPr>
        <p:spPr>
          <a:xfrm>
            <a:off x="940526" y="3429000"/>
            <a:ext cx="4558937" cy="9704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4010F1BB-3799-49E5-9279-15FD09810156}"/>
              </a:ext>
            </a:extLst>
          </p:cNvPr>
          <p:cNvSpPr txBox="1"/>
          <p:nvPr/>
        </p:nvSpPr>
        <p:spPr>
          <a:xfrm>
            <a:off x="1107654" y="3621837"/>
            <a:ext cx="4391809" cy="584775"/>
          </a:xfrm>
          <a:prstGeom prst="rect">
            <a:avLst/>
          </a:prstGeom>
          <a:noFill/>
        </p:spPr>
        <p:txBody>
          <a:bodyPr wrap="square" rtlCol="0">
            <a:spAutoFit/>
          </a:bodyPr>
          <a:lstStyle/>
          <a:p>
            <a:pPr algn="ctr"/>
            <a:r>
              <a:rPr lang="en-US" sz="3200" b="1" dirty="0"/>
              <a:t>Last Name</a:t>
            </a:r>
          </a:p>
        </p:txBody>
      </p:sp>
      <p:sp>
        <p:nvSpPr>
          <p:cNvPr id="14" name="Rectangle: Rounded Corners 13">
            <a:extLst>
              <a:ext uri="{FF2B5EF4-FFF2-40B4-BE49-F238E27FC236}">
                <a16:creationId xmlns:a16="http://schemas.microsoft.com/office/drawing/2014/main" id="{B5BE09A9-DCC0-4FA6-BCF6-5BF1A8DAB4CA}"/>
              </a:ext>
            </a:extLst>
          </p:cNvPr>
          <p:cNvSpPr/>
          <p:nvPr/>
        </p:nvSpPr>
        <p:spPr>
          <a:xfrm>
            <a:off x="6311900" y="3429000"/>
            <a:ext cx="584200" cy="9704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DAD6F600-E208-4482-BED9-1B0A5D11931D}"/>
              </a:ext>
            </a:extLst>
          </p:cNvPr>
          <p:cNvSpPr/>
          <p:nvPr/>
        </p:nvSpPr>
        <p:spPr>
          <a:xfrm>
            <a:off x="7073537" y="3429000"/>
            <a:ext cx="584200" cy="9704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75A2369A-A21E-4F9D-905B-9A2ED2F0C944}"/>
              </a:ext>
            </a:extLst>
          </p:cNvPr>
          <p:cNvSpPr/>
          <p:nvPr/>
        </p:nvSpPr>
        <p:spPr>
          <a:xfrm>
            <a:off x="7860211" y="3429000"/>
            <a:ext cx="584200" cy="9704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97ED7ED1-5974-4185-AF3D-1995E45ABB0B}"/>
              </a:ext>
            </a:extLst>
          </p:cNvPr>
          <p:cNvSpPr/>
          <p:nvPr/>
        </p:nvSpPr>
        <p:spPr>
          <a:xfrm>
            <a:off x="8621848" y="3429000"/>
            <a:ext cx="584200" cy="9704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5599F269-B194-4B44-9FA0-634FC10F4613}"/>
              </a:ext>
            </a:extLst>
          </p:cNvPr>
          <p:cNvSpPr/>
          <p:nvPr/>
        </p:nvSpPr>
        <p:spPr>
          <a:xfrm>
            <a:off x="9383485" y="3429000"/>
            <a:ext cx="584200" cy="9704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Rounded Corners 21">
            <a:extLst>
              <a:ext uri="{FF2B5EF4-FFF2-40B4-BE49-F238E27FC236}">
                <a16:creationId xmlns:a16="http://schemas.microsoft.com/office/drawing/2014/main" id="{B998A1DC-055D-4DEB-A1E1-0176298922AF}"/>
              </a:ext>
            </a:extLst>
          </p:cNvPr>
          <p:cNvSpPr/>
          <p:nvPr/>
        </p:nvSpPr>
        <p:spPr>
          <a:xfrm>
            <a:off x="10145122" y="3429000"/>
            <a:ext cx="584200" cy="9704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260630B7-7D1A-40BF-A4CE-0A94F72476F5}"/>
              </a:ext>
            </a:extLst>
          </p:cNvPr>
          <p:cNvSpPr txBox="1"/>
          <p:nvPr/>
        </p:nvSpPr>
        <p:spPr>
          <a:xfrm>
            <a:off x="1955800" y="4889500"/>
            <a:ext cx="8189322" cy="646331"/>
          </a:xfrm>
          <a:prstGeom prst="rect">
            <a:avLst/>
          </a:prstGeom>
          <a:noFill/>
        </p:spPr>
        <p:txBody>
          <a:bodyPr wrap="square" rtlCol="0">
            <a:spAutoFit/>
          </a:bodyPr>
          <a:lstStyle/>
          <a:p>
            <a:r>
              <a:rPr lang="en-US" dirty="0"/>
              <a:t>The above data entry point has a 24 byte allowance, and 28 bytes are attempted.  The additional byte has to go somewhere.</a:t>
            </a:r>
          </a:p>
        </p:txBody>
      </p:sp>
      <p:sp>
        <p:nvSpPr>
          <p:cNvPr id="3" name="TextBox 2">
            <a:extLst>
              <a:ext uri="{FF2B5EF4-FFF2-40B4-BE49-F238E27FC236}">
                <a16:creationId xmlns:a16="http://schemas.microsoft.com/office/drawing/2014/main" id="{3C3A9BAD-9393-490F-A6A3-168B1254C9E5}"/>
              </a:ext>
            </a:extLst>
          </p:cNvPr>
          <p:cNvSpPr txBox="1"/>
          <p:nvPr/>
        </p:nvSpPr>
        <p:spPr>
          <a:xfrm>
            <a:off x="6311900" y="3606800"/>
            <a:ext cx="584200" cy="584775"/>
          </a:xfrm>
          <a:prstGeom prst="rect">
            <a:avLst/>
          </a:prstGeom>
          <a:noFill/>
        </p:spPr>
        <p:txBody>
          <a:bodyPr wrap="square" rtlCol="0">
            <a:spAutoFit/>
          </a:bodyPr>
          <a:lstStyle/>
          <a:p>
            <a:pPr algn="ctr"/>
            <a:r>
              <a:rPr lang="en-US" sz="3200" b="1" dirty="0"/>
              <a:t>S</a:t>
            </a:r>
          </a:p>
        </p:txBody>
      </p:sp>
      <p:sp>
        <p:nvSpPr>
          <p:cNvPr id="13" name="TextBox 12">
            <a:extLst>
              <a:ext uri="{FF2B5EF4-FFF2-40B4-BE49-F238E27FC236}">
                <a16:creationId xmlns:a16="http://schemas.microsoft.com/office/drawing/2014/main" id="{2387BC49-3C2B-40CC-A80B-5BCE2C26DEAC}"/>
              </a:ext>
            </a:extLst>
          </p:cNvPr>
          <p:cNvSpPr txBox="1"/>
          <p:nvPr/>
        </p:nvSpPr>
        <p:spPr>
          <a:xfrm>
            <a:off x="7073537" y="3621837"/>
            <a:ext cx="584200" cy="584775"/>
          </a:xfrm>
          <a:prstGeom prst="rect">
            <a:avLst/>
          </a:prstGeom>
          <a:noFill/>
        </p:spPr>
        <p:txBody>
          <a:bodyPr wrap="square" rtlCol="0">
            <a:spAutoFit/>
          </a:bodyPr>
          <a:lstStyle/>
          <a:p>
            <a:pPr algn="ctr"/>
            <a:r>
              <a:rPr lang="en-US" sz="3200" b="1" dirty="0"/>
              <a:t>I</a:t>
            </a:r>
          </a:p>
        </p:txBody>
      </p:sp>
      <p:sp>
        <p:nvSpPr>
          <p:cNvPr id="15" name="TextBox 14">
            <a:extLst>
              <a:ext uri="{FF2B5EF4-FFF2-40B4-BE49-F238E27FC236}">
                <a16:creationId xmlns:a16="http://schemas.microsoft.com/office/drawing/2014/main" id="{BCD86F68-88D3-4719-BE66-EC76DF628D93}"/>
              </a:ext>
            </a:extLst>
          </p:cNvPr>
          <p:cNvSpPr txBox="1"/>
          <p:nvPr/>
        </p:nvSpPr>
        <p:spPr>
          <a:xfrm>
            <a:off x="7885248" y="3621837"/>
            <a:ext cx="584200" cy="584775"/>
          </a:xfrm>
          <a:prstGeom prst="rect">
            <a:avLst/>
          </a:prstGeom>
          <a:noFill/>
        </p:spPr>
        <p:txBody>
          <a:bodyPr wrap="square" rtlCol="0">
            <a:spAutoFit/>
          </a:bodyPr>
          <a:lstStyle/>
          <a:p>
            <a:pPr algn="ctr"/>
            <a:r>
              <a:rPr lang="en-US" sz="3200" b="1" dirty="0"/>
              <a:t>M</a:t>
            </a:r>
          </a:p>
        </p:txBody>
      </p:sp>
      <p:sp>
        <p:nvSpPr>
          <p:cNvPr id="17" name="TextBox 16">
            <a:extLst>
              <a:ext uri="{FF2B5EF4-FFF2-40B4-BE49-F238E27FC236}">
                <a16:creationId xmlns:a16="http://schemas.microsoft.com/office/drawing/2014/main" id="{3E04DF77-EEAF-4B2D-95C1-33E62CB042D2}"/>
              </a:ext>
            </a:extLst>
          </p:cNvPr>
          <p:cNvSpPr txBox="1"/>
          <p:nvPr/>
        </p:nvSpPr>
        <p:spPr>
          <a:xfrm>
            <a:off x="8646885" y="3636874"/>
            <a:ext cx="584200" cy="584775"/>
          </a:xfrm>
          <a:prstGeom prst="rect">
            <a:avLst/>
          </a:prstGeom>
          <a:noFill/>
        </p:spPr>
        <p:txBody>
          <a:bodyPr wrap="square" rtlCol="0">
            <a:spAutoFit/>
          </a:bodyPr>
          <a:lstStyle/>
          <a:p>
            <a:pPr algn="ctr"/>
            <a:r>
              <a:rPr lang="en-US" sz="3200" b="1" dirty="0"/>
              <a:t>P</a:t>
            </a:r>
          </a:p>
        </p:txBody>
      </p:sp>
      <p:sp>
        <p:nvSpPr>
          <p:cNvPr id="23" name="TextBox 22">
            <a:extLst>
              <a:ext uri="{FF2B5EF4-FFF2-40B4-BE49-F238E27FC236}">
                <a16:creationId xmlns:a16="http://schemas.microsoft.com/office/drawing/2014/main" id="{1E15B1A7-DD9A-40F5-B29A-29B22AD433BB}"/>
              </a:ext>
            </a:extLst>
          </p:cNvPr>
          <p:cNvSpPr txBox="1"/>
          <p:nvPr/>
        </p:nvSpPr>
        <p:spPr>
          <a:xfrm>
            <a:off x="9383485" y="3621837"/>
            <a:ext cx="584200" cy="584775"/>
          </a:xfrm>
          <a:prstGeom prst="rect">
            <a:avLst/>
          </a:prstGeom>
          <a:noFill/>
        </p:spPr>
        <p:txBody>
          <a:bodyPr wrap="square" rtlCol="0">
            <a:spAutoFit/>
          </a:bodyPr>
          <a:lstStyle/>
          <a:p>
            <a:pPr algn="ctr"/>
            <a:r>
              <a:rPr lang="en-US" sz="3200" b="1" dirty="0"/>
              <a:t>S</a:t>
            </a:r>
          </a:p>
        </p:txBody>
      </p:sp>
      <p:sp>
        <p:nvSpPr>
          <p:cNvPr id="24" name="TextBox 23">
            <a:extLst>
              <a:ext uri="{FF2B5EF4-FFF2-40B4-BE49-F238E27FC236}">
                <a16:creationId xmlns:a16="http://schemas.microsoft.com/office/drawing/2014/main" id="{2AF7F1A2-0BB8-4BAF-8A98-D0E063F923E5}"/>
              </a:ext>
            </a:extLst>
          </p:cNvPr>
          <p:cNvSpPr txBox="1"/>
          <p:nvPr/>
        </p:nvSpPr>
        <p:spPr>
          <a:xfrm>
            <a:off x="10144759" y="3619500"/>
            <a:ext cx="584200" cy="584775"/>
          </a:xfrm>
          <a:prstGeom prst="rect">
            <a:avLst/>
          </a:prstGeom>
          <a:noFill/>
        </p:spPr>
        <p:txBody>
          <a:bodyPr wrap="square" rtlCol="0">
            <a:spAutoFit/>
          </a:bodyPr>
          <a:lstStyle/>
          <a:p>
            <a:pPr algn="ctr"/>
            <a:r>
              <a:rPr lang="en-US" sz="3200" b="1" dirty="0"/>
              <a:t>O</a:t>
            </a:r>
          </a:p>
        </p:txBody>
      </p:sp>
      <p:sp>
        <p:nvSpPr>
          <p:cNvPr id="26" name="Rectangle: Rounded Corners 25">
            <a:extLst>
              <a:ext uri="{FF2B5EF4-FFF2-40B4-BE49-F238E27FC236}">
                <a16:creationId xmlns:a16="http://schemas.microsoft.com/office/drawing/2014/main" id="{FF938BC4-CE2A-4A95-8EA0-09BD4D429E69}"/>
              </a:ext>
            </a:extLst>
          </p:cNvPr>
          <p:cNvSpPr/>
          <p:nvPr/>
        </p:nvSpPr>
        <p:spPr>
          <a:xfrm rot="1421198">
            <a:off x="10906033" y="3822700"/>
            <a:ext cx="584200" cy="9704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00736EE0-4BD4-4265-9497-D7EC41DB7DC4}"/>
              </a:ext>
            </a:extLst>
          </p:cNvPr>
          <p:cNvSpPr txBox="1"/>
          <p:nvPr/>
        </p:nvSpPr>
        <p:spPr>
          <a:xfrm rot="1421198">
            <a:off x="10905670" y="4013200"/>
            <a:ext cx="584200" cy="584775"/>
          </a:xfrm>
          <a:prstGeom prst="rect">
            <a:avLst/>
          </a:prstGeom>
          <a:noFill/>
        </p:spPr>
        <p:txBody>
          <a:bodyPr wrap="square" rtlCol="0">
            <a:spAutoFit/>
          </a:bodyPr>
          <a:lstStyle/>
          <a:p>
            <a:pPr algn="ctr"/>
            <a:r>
              <a:rPr lang="en-US" sz="3200" b="1" dirty="0"/>
              <a:t>N</a:t>
            </a:r>
          </a:p>
        </p:txBody>
      </p:sp>
    </p:spTree>
    <p:extLst>
      <p:ext uri="{BB962C8B-B14F-4D97-AF65-F5344CB8AC3E}">
        <p14:creationId xmlns:p14="http://schemas.microsoft.com/office/powerpoint/2010/main" val="2630916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BACDF-A26F-470E-BCC5-227E34755B67}"/>
              </a:ext>
            </a:extLst>
          </p:cNvPr>
          <p:cNvSpPr>
            <a:spLocks noGrp="1"/>
          </p:cNvSpPr>
          <p:nvPr>
            <p:ph type="title"/>
          </p:nvPr>
        </p:nvSpPr>
        <p:spPr/>
        <p:txBody>
          <a:bodyPr/>
          <a:lstStyle/>
          <a:p>
            <a:r>
              <a:rPr lang="en-US" dirty="0"/>
              <a:t>Vulnerable Functions</a:t>
            </a:r>
          </a:p>
        </p:txBody>
      </p:sp>
      <p:sp>
        <p:nvSpPr>
          <p:cNvPr id="3" name="Content Placeholder 2">
            <a:extLst>
              <a:ext uri="{FF2B5EF4-FFF2-40B4-BE49-F238E27FC236}">
                <a16:creationId xmlns:a16="http://schemas.microsoft.com/office/drawing/2014/main" id="{ED6626BF-576F-4441-9C44-4BB96C358274}"/>
              </a:ext>
            </a:extLst>
          </p:cNvPr>
          <p:cNvSpPr>
            <a:spLocks noGrp="1"/>
          </p:cNvSpPr>
          <p:nvPr>
            <p:ph idx="1"/>
          </p:nvPr>
        </p:nvSpPr>
        <p:spPr>
          <a:xfrm>
            <a:off x="144943" y="2337790"/>
            <a:ext cx="7333886" cy="3636511"/>
          </a:xfrm>
        </p:spPr>
        <p:txBody>
          <a:bodyPr>
            <a:normAutofit fontScale="85000" lnSpcReduction="10000"/>
          </a:bodyPr>
          <a:lstStyle/>
          <a:p>
            <a:pPr marL="0" indent="0" algn="ctr">
              <a:buNone/>
            </a:pPr>
            <a:r>
              <a:rPr lang="en-US" sz="3200" dirty="0"/>
              <a:t>There are several known and vulnerable functions in the C and C++ languages</a:t>
            </a:r>
          </a:p>
          <a:p>
            <a:r>
              <a:rPr lang="en-US" dirty="0" err="1"/>
              <a:t>Printf</a:t>
            </a:r>
            <a:endParaRPr lang="en-US" dirty="0"/>
          </a:p>
          <a:p>
            <a:r>
              <a:rPr lang="en-US" dirty="0" err="1"/>
              <a:t>Sprintf</a:t>
            </a:r>
            <a:endParaRPr lang="en-US" dirty="0"/>
          </a:p>
          <a:p>
            <a:r>
              <a:rPr lang="en-US" dirty="0" err="1"/>
              <a:t>Strcat</a:t>
            </a:r>
            <a:endParaRPr lang="en-US" dirty="0"/>
          </a:p>
          <a:p>
            <a:r>
              <a:rPr lang="en-US" dirty="0" err="1"/>
              <a:t>Strcpy</a:t>
            </a:r>
            <a:endParaRPr lang="en-US" dirty="0"/>
          </a:p>
          <a:p>
            <a:r>
              <a:rPr lang="en-US" dirty="0"/>
              <a:t>Gets</a:t>
            </a:r>
          </a:p>
          <a:p>
            <a:endParaRPr lang="en-US" dirty="0"/>
          </a:p>
          <a:p>
            <a:pPr marL="0" indent="0">
              <a:buNone/>
            </a:pPr>
            <a:r>
              <a:rPr lang="en-US" dirty="0"/>
              <a:t>Any use of these functions is considered unsafe in programming and should be avoided.</a:t>
            </a:r>
          </a:p>
          <a:p>
            <a:endParaRPr lang="en-US" dirty="0"/>
          </a:p>
        </p:txBody>
      </p:sp>
      <p:pic>
        <p:nvPicPr>
          <p:cNvPr id="4" name="Picture 3">
            <a:extLst>
              <a:ext uri="{FF2B5EF4-FFF2-40B4-BE49-F238E27FC236}">
                <a16:creationId xmlns:a16="http://schemas.microsoft.com/office/drawing/2014/main" id="{6DFB0B69-93F2-4BCE-AEE4-84C0B98E0A7B}"/>
              </a:ext>
            </a:extLst>
          </p:cNvPr>
          <p:cNvPicPr>
            <a:picLocks noChangeAspect="1"/>
          </p:cNvPicPr>
          <p:nvPr/>
        </p:nvPicPr>
        <p:blipFill>
          <a:blip r:embed="rId2"/>
          <a:stretch>
            <a:fillRect/>
          </a:stretch>
        </p:blipFill>
        <p:spPr>
          <a:xfrm>
            <a:off x="7276699" y="2123629"/>
            <a:ext cx="4758658" cy="3786284"/>
          </a:xfrm>
          <a:prstGeom prst="rect">
            <a:avLst/>
          </a:prstGeom>
        </p:spPr>
      </p:pic>
    </p:spTree>
    <p:extLst>
      <p:ext uri="{BB962C8B-B14F-4D97-AF65-F5344CB8AC3E}">
        <p14:creationId xmlns:p14="http://schemas.microsoft.com/office/powerpoint/2010/main" val="1410984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0C511-E798-403E-BF98-0CA351B08D5F}"/>
              </a:ext>
            </a:extLst>
          </p:cNvPr>
          <p:cNvSpPr>
            <a:spLocks noGrp="1"/>
          </p:cNvSpPr>
          <p:nvPr>
            <p:ph type="title"/>
          </p:nvPr>
        </p:nvSpPr>
        <p:spPr/>
        <p:txBody>
          <a:bodyPr/>
          <a:lstStyle/>
          <a:p>
            <a:r>
              <a:rPr lang="en-US" dirty="0"/>
              <a:t>Scanning and Enumerating</a:t>
            </a:r>
          </a:p>
        </p:txBody>
      </p:sp>
      <p:sp>
        <p:nvSpPr>
          <p:cNvPr id="5" name="Content Placeholder 4">
            <a:extLst>
              <a:ext uri="{FF2B5EF4-FFF2-40B4-BE49-F238E27FC236}">
                <a16:creationId xmlns:a16="http://schemas.microsoft.com/office/drawing/2014/main" id="{8311BEC3-A834-4121-A7D1-27DF35ACB48C}"/>
              </a:ext>
            </a:extLst>
          </p:cNvPr>
          <p:cNvSpPr>
            <a:spLocks noGrp="1"/>
          </p:cNvSpPr>
          <p:nvPr>
            <p:ph sz="half" idx="1"/>
          </p:nvPr>
        </p:nvSpPr>
        <p:spPr>
          <a:xfrm>
            <a:off x="0" y="1715495"/>
            <a:ext cx="5185873" cy="3638763"/>
          </a:xfrm>
        </p:spPr>
        <p:txBody>
          <a:bodyPr/>
          <a:lstStyle/>
          <a:p>
            <a:r>
              <a:rPr lang="en-US" dirty="0"/>
              <a:t>You may or may not receive interesting or confusing output when running a scan such as Nmap against a machine with a vulnerable service running.  </a:t>
            </a:r>
          </a:p>
          <a:p>
            <a:r>
              <a:rPr lang="en-US" dirty="0"/>
              <a:t>The output here shows that the program is replying to the probing by Nmap but isn’t necessarily indicative of a vulnerable program; it does merit additional investigation.</a:t>
            </a:r>
          </a:p>
        </p:txBody>
      </p:sp>
      <p:pic>
        <p:nvPicPr>
          <p:cNvPr id="4" name="Picture 3" descr="A screenshot of a cell phone&#10;&#10;Description automatically generated">
            <a:extLst>
              <a:ext uri="{FF2B5EF4-FFF2-40B4-BE49-F238E27FC236}">
                <a16:creationId xmlns:a16="http://schemas.microsoft.com/office/drawing/2014/main" id="{D60D4C98-7463-4DC2-98BF-1D2ACA883BA3}"/>
              </a:ext>
            </a:extLst>
          </p:cNvPr>
          <p:cNvPicPr>
            <a:picLocks noChangeAspect="1"/>
          </p:cNvPicPr>
          <p:nvPr/>
        </p:nvPicPr>
        <p:blipFill>
          <a:blip r:embed="rId2"/>
          <a:stretch>
            <a:fillRect/>
          </a:stretch>
        </p:blipFill>
        <p:spPr>
          <a:xfrm>
            <a:off x="5682065" y="2022678"/>
            <a:ext cx="5699933" cy="4613940"/>
          </a:xfrm>
          <a:prstGeom prst="rect">
            <a:avLst/>
          </a:prstGeom>
        </p:spPr>
      </p:pic>
    </p:spTree>
    <p:extLst>
      <p:ext uri="{BB962C8B-B14F-4D97-AF65-F5344CB8AC3E}">
        <p14:creationId xmlns:p14="http://schemas.microsoft.com/office/powerpoint/2010/main" val="3002612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4C44A-ECD5-41E9-AD55-BEB3B9F7C4FA}"/>
              </a:ext>
            </a:extLst>
          </p:cNvPr>
          <p:cNvSpPr>
            <a:spLocks noGrp="1"/>
          </p:cNvSpPr>
          <p:nvPr>
            <p:ph type="title"/>
          </p:nvPr>
        </p:nvSpPr>
        <p:spPr/>
        <p:txBody>
          <a:bodyPr/>
          <a:lstStyle/>
          <a:p>
            <a:r>
              <a:rPr lang="en-US" dirty="0"/>
              <a:t>Interacting via Pry</a:t>
            </a:r>
          </a:p>
        </p:txBody>
      </p:sp>
      <p:sp>
        <p:nvSpPr>
          <p:cNvPr id="3" name="Content Placeholder 2">
            <a:extLst>
              <a:ext uri="{FF2B5EF4-FFF2-40B4-BE49-F238E27FC236}">
                <a16:creationId xmlns:a16="http://schemas.microsoft.com/office/drawing/2014/main" id="{133161A4-B8A5-44E3-9A81-0CC6FF04715B}"/>
              </a:ext>
            </a:extLst>
          </p:cNvPr>
          <p:cNvSpPr>
            <a:spLocks noGrp="1"/>
          </p:cNvSpPr>
          <p:nvPr>
            <p:ph idx="1"/>
          </p:nvPr>
        </p:nvSpPr>
        <p:spPr>
          <a:xfrm>
            <a:off x="0" y="2588048"/>
            <a:ext cx="4504623" cy="4111523"/>
          </a:xfrm>
        </p:spPr>
        <p:txBody>
          <a:bodyPr>
            <a:normAutofit/>
          </a:bodyPr>
          <a:lstStyle/>
          <a:p>
            <a:r>
              <a:rPr lang="en-US" dirty="0"/>
              <a:t>Pry is an IDE-like Ruby environment that can be used to interact with programs, much like any other IDE</a:t>
            </a:r>
          </a:p>
          <a:p>
            <a:r>
              <a:rPr lang="en-US" dirty="0"/>
              <a:t>Available in the apt repository on Kali Linux</a:t>
            </a:r>
          </a:p>
          <a:p>
            <a:r>
              <a:rPr lang="en-US" dirty="0"/>
              <a:t>Can open and interact with TCP Sockets</a:t>
            </a:r>
          </a:p>
          <a:p>
            <a:r>
              <a:rPr lang="en-US" dirty="0"/>
              <a:t>Useful for program fuzzing and quicker than modifying files via Spike</a:t>
            </a:r>
          </a:p>
          <a:p>
            <a:r>
              <a:rPr lang="en-US" dirty="0"/>
              <a:t>Pry –simple-prompt</a:t>
            </a:r>
          </a:p>
          <a:p>
            <a:pPr lvl="1"/>
            <a:r>
              <a:rPr lang="en-US" dirty="0"/>
              <a:t>s=</a:t>
            </a:r>
            <a:r>
              <a:rPr lang="en-US" dirty="0" err="1"/>
              <a:t>TCPSocket.new</a:t>
            </a:r>
            <a:r>
              <a:rPr lang="en-US" dirty="0"/>
              <a:t>(“</a:t>
            </a:r>
            <a:r>
              <a:rPr lang="en-US" dirty="0" err="1"/>
              <a:t>ipaddr</a:t>
            </a:r>
            <a:r>
              <a:rPr lang="en-US" dirty="0"/>
              <a:t>”,port)</a:t>
            </a:r>
          </a:p>
          <a:p>
            <a:pPr marL="457200" lvl="1" indent="0">
              <a:buNone/>
            </a:pPr>
            <a:endParaRPr lang="en-US" dirty="0"/>
          </a:p>
          <a:p>
            <a:endParaRPr lang="en-US" dirty="0"/>
          </a:p>
        </p:txBody>
      </p:sp>
      <p:pic>
        <p:nvPicPr>
          <p:cNvPr id="5" name="Picture 4" descr="A close up of a logo&#10;&#10;Description automatically generated">
            <a:extLst>
              <a:ext uri="{FF2B5EF4-FFF2-40B4-BE49-F238E27FC236}">
                <a16:creationId xmlns:a16="http://schemas.microsoft.com/office/drawing/2014/main" id="{ACDF4D9B-851C-423A-AF08-B5C5006D3599}"/>
              </a:ext>
            </a:extLst>
          </p:cNvPr>
          <p:cNvPicPr>
            <a:picLocks noChangeAspect="1"/>
          </p:cNvPicPr>
          <p:nvPr/>
        </p:nvPicPr>
        <p:blipFill>
          <a:blip r:embed="rId2"/>
          <a:stretch>
            <a:fillRect/>
          </a:stretch>
        </p:blipFill>
        <p:spPr>
          <a:xfrm>
            <a:off x="4497272" y="3752337"/>
            <a:ext cx="7289836" cy="970450"/>
          </a:xfrm>
          <a:prstGeom prst="rect">
            <a:avLst/>
          </a:prstGeom>
        </p:spPr>
      </p:pic>
    </p:spTree>
    <p:extLst>
      <p:ext uri="{BB962C8B-B14F-4D97-AF65-F5344CB8AC3E}">
        <p14:creationId xmlns:p14="http://schemas.microsoft.com/office/powerpoint/2010/main" val="41932186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8F285-30DB-4595-A9DD-033B2809FAD9}"/>
              </a:ext>
            </a:extLst>
          </p:cNvPr>
          <p:cNvSpPr>
            <a:spLocks noGrp="1"/>
          </p:cNvSpPr>
          <p:nvPr>
            <p:ph type="title"/>
          </p:nvPr>
        </p:nvSpPr>
        <p:spPr/>
        <p:txBody>
          <a:bodyPr/>
          <a:lstStyle/>
          <a:p>
            <a:r>
              <a:rPr lang="en-US" dirty="0"/>
              <a:t>Fuzzing</a:t>
            </a:r>
          </a:p>
        </p:txBody>
      </p:sp>
      <p:sp>
        <p:nvSpPr>
          <p:cNvPr id="3" name="Content Placeholder 2">
            <a:extLst>
              <a:ext uri="{FF2B5EF4-FFF2-40B4-BE49-F238E27FC236}">
                <a16:creationId xmlns:a16="http://schemas.microsoft.com/office/drawing/2014/main" id="{486C3CA9-4525-4531-8D80-427EDC6CCE95}"/>
              </a:ext>
            </a:extLst>
          </p:cNvPr>
          <p:cNvSpPr>
            <a:spLocks noGrp="1"/>
          </p:cNvSpPr>
          <p:nvPr>
            <p:ph idx="1"/>
          </p:nvPr>
        </p:nvSpPr>
        <p:spPr>
          <a:xfrm>
            <a:off x="0" y="1972030"/>
            <a:ext cx="6130728" cy="3636511"/>
          </a:xfrm>
        </p:spPr>
        <p:txBody>
          <a:bodyPr/>
          <a:lstStyle/>
          <a:p>
            <a:r>
              <a:rPr lang="en-US" dirty="0"/>
              <a:t>Using Pry, we can initiate a socket connection</a:t>
            </a:r>
          </a:p>
          <a:p>
            <a:r>
              <a:rPr lang="en-US" dirty="0"/>
              <a:t>Use </a:t>
            </a:r>
            <a:r>
              <a:rPr lang="en-US" dirty="0" err="1"/>
              <a:t>s.puts</a:t>
            </a:r>
            <a:r>
              <a:rPr lang="en-US" dirty="0"/>
              <a:t> to send bytes, strings, </a:t>
            </a:r>
            <a:r>
              <a:rPr lang="en-US" dirty="0" err="1"/>
              <a:t>etc</a:t>
            </a:r>
            <a:endParaRPr lang="en-US" dirty="0"/>
          </a:p>
          <a:p>
            <a:r>
              <a:rPr lang="en-US" dirty="0"/>
              <a:t>Need to reconnect after every crash</a:t>
            </a:r>
          </a:p>
          <a:p>
            <a:r>
              <a:rPr lang="en-US" dirty="0"/>
              <a:t>Use the “walk it in” technique to get as close to the crash point as possible</a:t>
            </a:r>
          </a:p>
          <a:p>
            <a:endParaRPr lang="en-US" dirty="0"/>
          </a:p>
        </p:txBody>
      </p:sp>
      <p:pic>
        <p:nvPicPr>
          <p:cNvPr id="5" name="Picture 4" descr="A screen shot of a computer&#10;&#10;Description automatically generated">
            <a:extLst>
              <a:ext uri="{FF2B5EF4-FFF2-40B4-BE49-F238E27FC236}">
                <a16:creationId xmlns:a16="http://schemas.microsoft.com/office/drawing/2014/main" id="{69792FE6-300F-4C5A-BFD3-16F9F60A0098}"/>
              </a:ext>
            </a:extLst>
          </p:cNvPr>
          <p:cNvPicPr>
            <a:picLocks noChangeAspect="1"/>
          </p:cNvPicPr>
          <p:nvPr/>
        </p:nvPicPr>
        <p:blipFill>
          <a:blip r:embed="rId2"/>
          <a:stretch>
            <a:fillRect/>
          </a:stretch>
        </p:blipFill>
        <p:spPr>
          <a:xfrm>
            <a:off x="2139445" y="4629388"/>
            <a:ext cx="9621593" cy="1781424"/>
          </a:xfrm>
          <a:prstGeom prst="rect">
            <a:avLst/>
          </a:prstGeom>
        </p:spPr>
      </p:pic>
    </p:spTree>
    <p:extLst>
      <p:ext uri="{BB962C8B-B14F-4D97-AF65-F5344CB8AC3E}">
        <p14:creationId xmlns:p14="http://schemas.microsoft.com/office/powerpoint/2010/main" val="14393558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Description automatically generated">
            <a:extLst>
              <a:ext uri="{FF2B5EF4-FFF2-40B4-BE49-F238E27FC236}">
                <a16:creationId xmlns:a16="http://schemas.microsoft.com/office/drawing/2014/main" id="{63A3714C-6278-4511-9E45-ACDB91455E9D}"/>
              </a:ext>
            </a:extLst>
          </p:cNvPr>
          <p:cNvPicPr>
            <a:picLocks noChangeAspect="1"/>
          </p:cNvPicPr>
          <p:nvPr/>
        </p:nvPicPr>
        <p:blipFill>
          <a:blip r:embed="rId2"/>
          <a:stretch>
            <a:fillRect/>
          </a:stretch>
        </p:blipFill>
        <p:spPr>
          <a:xfrm>
            <a:off x="5277288" y="2894799"/>
            <a:ext cx="6604713" cy="2435191"/>
          </a:xfrm>
          <a:prstGeom prst="rect">
            <a:avLst/>
          </a:prstGeom>
        </p:spPr>
      </p:pic>
      <p:sp>
        <p:nvSpPr>
          <p:cNvPr id="2" name="Title 1">
            <a:extLst>
              <a:ext uri="{FF2B5EF4-FFF2-40B4-BE49-F238E27FC236}">
                <a16:creationId xmlns:a16="http://schemas.microsoft.com/office/drawing/2014/main" id="{D9421F81-9793-4A9B-BEA1-AC92565694E1}"/>
              </a:ext>
            </a:extLst>
          </p:cNvPr>
          <p:cNvSpPr>
            <a:spLocks noGrp="1"/>
          </p:cNvSpPr>
          <p:nvPr>
            <p:ph type="title"/>
          </p:nvPr>
        </p:nvSpPr>
        <p:spPr/>
        <p:txBody>
          <a:bodyPr/>
          <a:lstStyle/>
          <a:p>
            <a:r>
              <a:rPr lang="en-US" dirty="0"/>
              <a:t>Developing the Exploit</a:t>
            </a:r>
          </a:p>
        </p:txBody>
      </p:sp>
      <p:sp>
        <p:nvSpPr>
          <p:cNvPr id="3" name="Content Placeholder 2">
            <a:extLst>
              <a:ext uri="{FF2B5EF4-FFF2-40B4-BE49-F238E27FC236}">
                <a16:creationId xmlns:a16="http://schemas.microsoft.com/office/drawing/2014/main" id="{6E164D43-BDB0-4647-9490-3CC0931184AF}"/>
              </a:ext>
            </a:extLst>
          </p:cNvPr>
          <p:cNvSpPr>
            <a:spLocks noGrp="1"/>
          </p:cNvSpPr>
          <p:nvPr>
            <p:ph idx="1"/>
          </p:nvPr>
        </p:nvSpPr>
        <p:spPr>
          <a:xfrm>
            <a:off x="0" y="1870027"/>
            <a:ext cx="5277288" cy="4082260"/>
          </a:xfrm>
        </p:spPr>
        <p:txBody>
          <a:bodyPr/>
          <a:lstStyle/>
          <a:p>
            <a:r>
              <a:rPr lang="en-US" dirty="0"/>
              <a:t>Need a tool like Immunity Debugger</a:t>
            </a:r>
          </a:p>
          <a:p>
            <a:r>
              <a:rPr lang="en-US" dirty="0"/>
              <a:t>Load the program into I.D. and start it</a:t>
            </a:r>
          </a:p>
          <a:p>
            <a:r>
              <a:rPr lang="en-US" dirty="0"/>
              <a:t>Note that for best results Defender and Anti-Virus should be disabled</a:t>
            </a:r>
          </a:p>
          <a:p>
            <a:r>
              <a:rPr lang="en-US" dirty="0"/>
              <a:t>“Play” button needs to be pressed twice for the program to be interacted with</a:t>
            </a:r>
          </a:p>
          <a:p>
            <a:r>
              <a:rPr lang="en-US" dirty="0"/>
              <a:t>Here we see that the program has crashed, ant the EIP value is 41414141, signifying 4 “A” characters</a:t>
            </a:r>
          </a:p>
        </p:txBody>
      </p:sp>
    </p:spTree>
    <p:extLst>
      <p:ext uri="{BB962C8B-B14F-4D97-AF65-F5344CB8AC3E}">
        <p14:creationId xmlns:p14="http://schemas.microsoft.com/office/powerpoint/2010/main" val="13171595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21F81-9793-4A9B-BEA1-AC92565694E1}"/>
              </a:ext>
            </a:extLst>
          </p:cNvPr>
          <p:cNvSpPr>
            <a:spLocks noGrp="1"/>
          </p:cNvSpPr>
          <p:nvPr>
            <p:ph type="title"/>
          </p:nvPr>
        </p:nvSpPr>
        <p:spPr/>
        <p:txBody>
          <a:bodyPr/>
          <a:lstStyle/>
          <a:p>
            <a:r>
              <a:rPr lang="en-US" dirty="0"/>
              <a:t>Developing the Exploit</a:t>
            </a:r>
          </a:p>
        </p:txBody>
      </p:sp>
      <p:sp>
        <p:nvSpPr>
          <p:cNvPr id="3" name="Content Placeholder 2">
            <a:extLst>
              <a:ext uri="{FF2B5EF4-FFF2-40B4-BE49-F238E27FC236}">
                <a16:creationId xmlns:a16="http://schemas.microsoft.com/office/drawing/2014/main" id="{6E164D43-BDB0-4647-9490-3CC0931184AF}"/>
              </a:ext>
            </a:extLst>
          </p:cNvPr>
          <p:cNvSpPr>
            <a:spLocks noGrp="1"/>
          </p:cNvSpPr>
          <p:nvPr>
            <p:ph idx="1"/>
          </p:nvPr>
        </p:nvSpPr>
        <p:spPr>
          <a:xfrm>
            <a:off x="0" y="1870027"/>
            <a:ext cx="4957011" cy="4082260"/>
          </a:xfrm>
        </p:spPr>
        <p:txBody>
          <a:bodyPr/>
          <a:lstStyle/>
          <a:p>
            <a:r>
              <a:rPr lang="en-US" dirty="0"/>
              <a:t>Utilizing the Ruby tools “</a:t>
            </a:r>
            <a:r>
              <a:rPr lang="en-US" dirty="0" err="1"/>
              <a:t>pattern_create.rb</a:t>
            </a:r>
            <a:r>
              <a:rPr lang="en-US" dirty="0"/>
              <a:t>” and “</a:t>
            </a:r>
            <a:r>
              <a:rPr lang="en-US" dirty="0" err="1"/>
              <a:t>pattern_offset.rb</a:t>
            </a:r>
            <a:r>
              <a:rPr lang="en-US" dirty="0"/>
              <a:t>”, modules from the Metasploit Framework, we determine the “offset” value, or total amount of bytes necessary to reach the EIP, or Instruction Pointer</a:t>
            </a:r>
          </a:p>
        </p:txBody>
      </p:sp>
      <p:pic>
        <p:nvPicPr>
          <p:cNvPr id="6" name="Picture 5" descr="A screenshot of a computer screen&#10;&#10;Description automatically generated">
            <a:extLst>
              <a:ext uri="{FF2B5EF4-FFF2-40B4-BE49-F238E27FC236}">
                <a16:creationId xmlns:a16="http://schemas.microsoft.com/office/drawing/2014/main" id="{FDA4B4AB-FB48-4EBB-BD47-66DF4A3CCF3F}"/>
              </a:ext>
            </a:extLst>
          </p:cNvPr>
          <p:cNvPicPr>
            <a:picLocks noChangeAspect="1"/>
          </p:cNvPicPr>
          <p:nvPr/>
        </p:nvPicPr>
        <p:blipFill>
          <a:blip r:embed="rId2"/>
          <a:stretch>
            <a:fillRect/>
          </a:stretch>
        </p:blipFill>
        <p:spPr>
          <a:xfrm>
            <a:off x="4887226" y="1944301"/>
            <a:ext cx="7150770" cy="1125631"/>
          </a:xfrm>
          <a:prstGeom prst="rect">
            <a:avLst/>
          </a:prstGeom>
        </p:spPr>
      </p:pic>
      <p:pic>
        <p:nvPicPr>
          <p:cNvPr id="8" name="Picture 7" descr="A screenshot of a cell phone&#10;&#10;Description automatically generated">
            <a:extLst>
              <a:ext uri="{FF2B5EF4-FFF2-40B4-BE49-F238E27FC236}">
                <a16:creationId xmlns:a16="http://schemas.microsoft.com/office/drawing/2014/main" id="{EA4C10BB-8732-4090-9EE8-10F350EF6819}"/>
              </a:ext>
            </a:extLst>
          </p:cNvPr>
          <p:cNvPicPr>
            <a:picLocks noChangeAspect="1"/>
          </p:cNvPicPr>
          <p:nvPr/>
        </p:nvPicPr>
        <p:blipFill>
          <a:blip r:embed="rId3"/>
          <a:stretch>
            <a:fillRect/>
          </a:stretch>
        </p:blipFill>
        <p:spPr>
          <a:xfrm>
            <a:off x="4887226" y="3144206"/>
            <a:ext cx="5687219" cy="3172268"/>
          </a:xfrm>
          <a:prstGeom prst="rect">
            <a:avLst/>
          </a:prstGeom>
        </p:spPr>
      </p:pic>
    </p:spTree>
    <p:extLst>
      <p:ext uri="{BB962C8B-B14F-4D97-AF65-F5344CB8AC3E}">
        <p14:creationId xmlns:p14="http://schemas.microsoft.com/office/powerpoint/2010/main" val="829185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21F81-9793-4A9B-BEA1-AC92565694E1}"/>
              </a:ext>
            </a:extLst>
          </p:cNvPr>
          <p:cNvSpPr>
            <a:spLocks noGrp="1"/>
          </p:cNvSpPr>
          <p:nvPr>
            <p:ph type="title"/>
          </p:nvPr>
        </p:nvSpPr>
        <p:spPr/>
        <p:txBody>
          <a:bodyPr/>
          <a:lstStyle/>
          <a:p>
            <a:r>
              <a:rPr lang="en-US" dirty="0"/>
              <a:t>Developing the Exploit</a:t>
            </a:r>
          </a:p>
        </p:txBody>
      </p:sp>
      <p:sp>
        <p:nvSpPr>
          <p:cNvPr id="3" name="Content Placeholder 2">
            <a:extLst>
              <a:ext uri="{FF2B5EF4-FFF2-40B4-BE49-F238E27FC236}">
                <a16:creationId xmlns:a16="http://schemas.microsoft.com/office/drawing/2014/main" id="{6E164D43-BDB0-4647-9490-3CC0931184AF}"/>
              </a:ext>
            </a:extLst>
          </p:cNvPr>
          <p:cNvSpPr>
            <a:spLocks noGrp="1"/>
          </p:cNvSpPr>
          <p:nvPr>
            <p:ph idx="1"/>
          </p:nvPr>
        </p:nvSpPr>
        <p:spPr>
          <a:xfrm>
            <a:off x="0" y="2312789"/>
            <a:ext cx="4957011" cy="4082260"/>
          </a:xfrm>
        </p:spPr>
        <p:txBody>
          <a:bodyPr/>
          <a:lstStyle/>
          <a:p>
            <a:r>
              <a:rPr lang="en-US" dirty="0"/>
              <a:t>Utilizing the Ruby tools “</a:t>
            </a:r>
            <a:r>
              <a:rPr lang="en-US" dirty="0" err="1"/>
              <a:t>pattern_create.rb</a:t>
            </a:r>
            <a:r>
              <a:rPr lang="en-US" dirty="0"/>
              <a:t>” and “</a:t>
            </a:r>
            <a:r>
              <a:rPr lang="en-US" dirty="0" err="1"/>
              <a:t>pattern_offset.rb</a:t>
            </a:r>
            <a:r>
              <a:rPr lang="en-US" dirty="0"/>
              <a:t>”, modules from the Metasploit Framework, we determine the “offset” value, or total amount of bytes necessary to reach the EIP, or Instruction Pointer</a:t>
            </a:r>
          </a:p>
          <a:p>
            <a:r>
              <a:rPr lang="en-US" dirty="0"/>
              <a:t>The 42424242 signifies that we are able to inject 4 “B” characters into the EIP, signaling successful overwrite.</a:t>
            </a:r>
          </a:p>
        </p:txBody>
      </p:sp>
      <p:pic>
        <p:nvPicPr>
          <p:cNvPr id="5" name="Picture 4">
            <a:extLst>
              <a:ext uri="{FF2B5EF4-FFF2-40B4-BE49-F238E27FC236}">
                <a16:creationId xmlns:a16="http://schemas.microsoft.com/office/drawing/2014/main" id="{C66A44B0-1948-4F6B-B4FA-177677A21C11}"/>
              </a:ext>
            </a:extLst>
          </p:cNvPr>
          <p:cNvPicPr>
            <a:picLocks noChangeAspect="1"/>
          </p:cNvPicPr>
          <p:nvPr/>
        </p:nvPicPr>
        <p:blipFill>
          <a:blip r:embed="rId2"/>
          <a:stretch>
            <a:fillRect/>
          </a:stretch>
        </p:blipFill>
        <p:spPr>
          <a:xfrm>
            <a:off x="4957011" y="2256994"/>
            <a:ext cx="6906589" cy="438211"/>
          </a:xfrm>
          <a:prstGeom prst="rect">
            <a:avLst/>
          </a:prstGeom>
        </p:spPr>
      </p:pic>
      <p:pic>
        <p:nvPicPr>
          <p:cNvPr id="9" name="Picture 8" descr="A screen shot of a clock&#10;&#10;Description automatically generated">
            <a:extLst>
              <a:ext uri="{FF2B5EF4-FFF2-40B4-BE49-F238E27FC236}">
                <a16:creationId xmlns:a16="http://schemas.microsoft.com/office/drawing/2014/main" id="{F4E649A2-CC2F-49E6-BBB8-FF2321F43901}"/>
              </a:ext>
            </a:extLst>
          </p:cNvPr>
          <p:cNvPicPr>
            <a:picLocks noChangeAspect="1"/>
          </p:cNvPicPr>
          <p:nvPr/>
        </p:nvPicPr>
        <p:blipFill>
          <a:blip r:embed="rId3"/>
          <a:stretch>
            <a:fillRect/>
          </a:stretch>
        </p:blipFill>
        <p:spPr>
          <a:xfrm>
            <a:off x="4957011" y="2726487"/>
            <a:ext cx="3982006" cy="495369"/>
          </a:xfrm>
          <a:prstGeom prst="rect">
            <a:avLst/>
          </a:prstGeom>
        </p:spPr>
      </p:pic>
      <p:pic>
        <p:nvPicPr>
          <p:cNvPr id="11" name="Picture 10" descr="A screenshot of a computer&#10;&#10;Description automatically generated">
            <a:extLst>
              <a:ext uri="{FF2B5EF4-FFF2-40B4-BE49-F238E27FC236}">
                <a16:creationId xmlns:a16="http://schemas.microsoft.com/office/drawing/2014/main" id="{0BCB40ED-F923-4B4B-8806-81498AFA8516}"/>
              </a:ext>
            </a:extLst>
          </p:cNvPr>
          <p:cNvPicPr>
            <a:picLocks noChangeAspect="1"/>
          </p:cNvPicPr>
          <p:nvPr/>
        </p:nvPicPr>
        <p:blipFill>
          <a:blip r:embed="rId4"/>
          <a:stretch>
            <a:fillRect/>
          </a:stretch>
        </p:blipFill>
        <p:spPr>
          <a:xfrm>
            <a:off x="4957011" y="3253138"/>
            <a:ext cx="5668166" cy="3200847"/>
          </a:xfrm>
          <a:prstGeom prst="rect">
            <a:avLst/>
          </a:prstGeom>
        </p:spPr>
      </p:pic>
    </p:spTree>
    <p:extLst>
      <p:ext uri="{BB962C8B-B14F-4D97-AF65-F5344CB8AC3E}">
        <p14:creationId xmlns:p14="http://schemas.microsoft.com/office/powerpoint/2010/main" val="5085652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185D2-BFE0-4A26-86AC-38A3702433E4}"/>
              </a:ext>
            </a:extLst>
          </p:cNvPr>
          <p:cNvSpPr>
            <a:spLocks noGrp="1"/>
          </p:cNvSpPr>
          <p:nvPr>
            <p:ph type="title"/>
          </p:nvPr>
        </p:nvSpPr>
        <p:spPr/>
        <p:txBody>
          <a:bodyPr/>
          <a:lstStyle/>
          <a:p>
            <a:r>
              <a:rPr lang="en-US" dirty="0"/>
              <a:t>Developing the Exploit</a:t>
            </a:r>
          </a:p>
        </p:txBody>
      </p:sp>
      <p:sp>
        <p:nvSpPr>
          <p:cNvPr id="3" name="Text Placeholder 2">
            <a:extLst>
              <a:ext uri="{FF2B5EF4-FFF2-40B4-BE49-F238E27FC236}">
                <a16:creationId xmlns:a16="http://schemas.microsoft.com/office/drawing/2014/main" id="{2AFD9081-20FB-41F1-80C9-7557B2040B5D}"/>
              </a:ext>
            </a:extLst>
          </p:cNvPr>
          <p:cNvSpPr>
            <a:spLocks noGrp="1"/>
          </p:cNvSpPr>
          <p:nvPr>
            <p:ph type="body" idx="1"/>
          </p:nvPr>
        </p:nvSpPr>
        <p:spPr/>
        <p:txBody>
          <a:bodyPr/>
          <a:lstStyle/>
          <a:p>
            <a:r>
              <a:rPr lang="en-US" dirty="0"/>
              <a:t>Boilerplate</a:t>
            </a:r>
          </a:p>
        </p:txBody>
      </p:sp>
      <p:sp>
        <p:nvSpPr>
          <p:cNvPr id="4" name="Content Placeholder 3">
            <a:extLst>
              <a:ext uri="{FF2B5EF4-FFF2-40B4-BE49-F238E27FC236}">
                <a16:creationId xmlns:a16="http://schemas.microsoft.com/office/drawing/2014/main" id="{058452F2-970D-4113-B4DE-3972BA8939CC}"/>
              </a:ext>
            </a:extLst>
          </p:cNvPr>
          <p:cNvSpPr>
            <a:spLocks noGrp="1"/>
          </p:cNvSpPr>
          <p:nvPr>
            <p:ph sz="half" idx="2"/>
          </p:nvPr>
        </p:nvSpPr>
        <p:spPr/>
        <p:txBody>
          <a:bodyPr>
            <a:normAutofit fontScale="92500" lnSpcReduction="10000"/>
          </a:bodyPr>
          <a:lstStyle/>
          <a:p>
            <a:r>
              <a:rPr lang="en-US" dirty="0"/>
              <a:t>Common term in web development and programming</a:t>
            </a:r>
          </a:p>
          <a:p>
            <a:r>
              <a:rPr lang="en-US" dirty="0"/>
              <a:t>We can use a default boilerplate for our exploit development, which provides ease of development</a:t>
            </a:r>
          </a:p>
          <a:p>
            <a:r>
              <a:rPr lang="en-US" dirty="0"/>
              <a:t>I have done the hard work already, and the resources are linked in the earlier resources slide</a:t>
            </a:r>
          </a:p>
          <a:p>
            <a:r>
              <a:rPr lang="en-US" dirty="0"/>
              <a:t>We input the offset, and a “</a:t>
            </a:r>
            <a:r>
              <a:rPr lang="en-US" dirty="0" err="1"/>
              <a:t>nop</a:t>
            </a:r>
            <a:r>
              <a:rPr lang="en-US" dirty="0"/>
              <a:t> sled” of 10 “B” characters, which acts as a padding for our exploit</a:t>
            </a:r>
          </a:p>
        </p:txBody>
      </p:sp>
      <p:pic>
        <p:nvPicPr>
          <p:cNvPr id="10" name="Picture 9" descr="A screen shot of a social media post&#10;&#10;Description automatically generated">
            <a:extLst>
              <a:ext uri="{FF2B5EF4-FFF2-40B4-BE49-F238E27FC236}">
                <a16:creationId xmlns:a16="http://schemas.microsoft.com/office/drawing/2014/main" id="{82C1F287-9498-4409-AAF6-FAE1D2DA1180}"/>
              </a:ext>
            </a:extLst>
          </p:cNvPr>
          <p:cNvPicPr>
            <a:picLocks noChangeAspect="1"/>
          </p:cNvPicPr>
          <p:nvPr/>
        </p:nvPicPr>
        <p:blipFill>
          <a:blip r:embed="rId2"/>
          <a:stretch>
            <a:fillRect/>
          </a:stretch>
        </p:blipFill>
        <p:spPr>
          <a:xfrm>
            <a:off x="6822201" y="3329906"/>
            <a:ext cx="4410691" cy="1800476"/>
          </a:xfrm>
          <a:prstGeom prst="rect">
            <a:avLst/>
          </a:prstGeom>
        </p:spPr>
      </p:pic>
    </p:spTree>
    <p:extLst>
      <p:ext uri="{BB962C8B-B14F-4D97-AF65-F5344CB8AC3E}">
        <p14:creationId xmlns:p14="http://schemas.microsoft.com/office/powerpoint/2010/main" val="34908461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185D2-BFE0-4A26-86AC-38A3702433E4}"/>
              </a:ext>
            </a:extLst>
          </p:cNvPr>
          <p:cNvSpPr>
            <a:spLocks noGrp="1"/>
          </p:cNvSpPr>
          <p:nvPr>
            <p:ph type="title"/>
          </p:nvPr>
        </p:nvSpPr>
        <p:spPr/>
        <p:txBody>
          <a:bodyPr/>
          <a:lstStyle/>
          <a:p>
            <a:r>
              <a:rPr lang="en-US" dirty="0"/>
              <a:t>Developing the Exploit</a:t>
            </a:r>
          </a:p>
        </p:txBody>
      </p:sp>
      <p:sp>
        <p:nvSpPr>
          <p:cNvPr id="3" name="Text Placeholder 2">
            <a:extLst>
              <a:ext uri="{FF2B5EF4-FFF2-40B4-BE49-F238E27FC236}">
                <a16:creationId xmlns:a16="http://schemas.microsoft.com/office/drawing/2014/main" id="{2AFD9081-20FB-41F1-80C9-7557B2040B5D}"/>
              </a:ext>
            </a:extLst>
          </p:cNvPr>
          <p:cNvSpPr>
            <a:spLocks noGrp="1"/>
          </p:cNvSpPr>
          <p:nvPr>
            <p:ph type="body" idx="1"/>
          </p:nvPr>
        </p:nvSpPr>
        <p:spPr>
          <a:xfrm>
            <a:off x="169833" y="2174875"/>
            <a:ext cx="5189857" cy="576262"/>
          </a:xfrm>
        </p:spPr>
        <p:txBody>
          <a:bodyPr/>
          <a:lstStyle/>
          <a:p>
            <a:r>
              <a:rPr lang="en-US" dirty="0"/>
              <a:t>Bad Characters</a:t>
            </a:r>
          </a:p>
        </p:txBody>
      </p:sp>
      <p:sp>
        <p:nvSpPr>
          <p:cNvPr id="4" name="Content Placeholder 3">
            <a:extLst>
              <a:ext uri="{FF2B5EF4-FFF2-40B4-BE49-F238E27FC236}">
                <a16:creationId xmlns:a16="http://schemas.microsoft.com/office/drawing/2014/main" id="{058452F2-970D-4113-B4DE-3972BA8939CC}"/>
              </a:ext>
            </a:extLst>
          </p:cNvPr>
          <p:cNvSpPr>
            <a:spLocks noGrp="1"/>
          </p:cNvSpPr>
          <p:nvPr>
            <p:ph sz="half" idx="2"/>
          </p:nvPr>
        </p:nvSpPr>
        <p:spPr>
          <a:xfrm>
            <a:off x="169834" y="2751138"/>
            <a:ext cx="5189856" cy="3109913"/>
          </a:xfrm>
        </p:spPr>
        <p:txBody>
          <a:bodyPr>
            <a:normAutofit/>
          </a:bodyPr>
          <a:lstStyle/>
          <a:p>
            <a:r>
              <a:rPr lang="en-US" dirty="0"/>
              <a:t>Exploit development runs in to a challenge called “bad characters”</a:t>
            </a:r>
          </a:p>
          <a:p>
            <a:r>
              <a:rPr lang="en-US" dirty="0"/>
              <a:t>These are characters that will interact negatively with our later </a:t>
            </a:r>
            <a:r>
              <a:rPr lang="en-US" dirty="0" err="1"/>
              <a:t>shellcoding</a:t>
            </a:r>
            <a:endParaRPr lang="en-US" dirty="0"/>
          </a:p>
          <a:p>
            <a:r>
              <a:rPr lang="en-US" dirty="0"/>
              <a:t>The NULL byte, “\x00” is always considered a bad character, and should almost always be excluded</a:t>
            </a:r>
          </a:p>
        </p:txBody>
      </p:sp>
      <p:pic>
        <p:nvPicPr>
          <p:cNvPr id="6" name="Picture 5" descr="A screenshot of a computer&#10;&#10;Description automatically generated">
            <a:extLst>
              <a:ext uri="{FF2B5EF4-FFF2-40B4-BE49-F238E27FC236}">
                <a16:creationId xmlns:a16="http://schemas.microsoft.com/office/drawing/2014/main" id="{102E8DEA-7F05-46EE-AAA3-0031FB907985}"/>
              </a:ext>
            </a:extLst>
          </p:cNvPr>
          <p:cNvPicPr>
            <a:picLocks noChangeAspect="1"/>
          </p:cNvPicPr>
          <p:nvPr/>
        </p:nvPicPr>
        <p:blipFill>
          <a:blip r:embed="rId2"/>
          <a:stretch>
            <a:fillRect/>
          </a:stretch>
        </p:blipFill>
        <p:spPr>
          <a:xfrm>
            <a:off x="5218875" y="2868329"/>
            <a:ext cx="6804014" cy="1959953"/>
          </a:xfrm>
          <a:prstGeom prst="rect">
            <a:avLst/>
          </a:prstGeom>
        </p:spPr>
      </p:pic>
    </p:spTree>
    <p:extLst>
      <p:ext uri="{BB962C8B-B14F-4D97-AF65-F5344CB8AC3E}">
        <p14:creationId xmlns:p14="http://schemas.microsoft.com/office/powerpoint/2010/main" val="23806335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185D2-BFE0-4A26-86AC-38A3702433E4}"/>
              </a:ext>
            </a:extLst>
          </p:cNvPr>
          <p:cNvSpPr>
            <a:spLocks noGrp="1"/>
          </p:cNvSpPr>
          <p:nvPr>
            <p:ph type="title"/>
          </p:nvPr>
        </p:nvSpPr>
        <p:spPr/>
        <p:txBody>
          <a:bodyPr/>
          <a:lstStyle/>
          <a:p>
            <a:r>
              <a:rPr lang="en-US" dirty="0"/>
              <a:t>Developing the Exploit</a:t>
            </a:r>
          </a:p>
        </p:txBody>
      </p:sp>
      <p:sp>
        <p:nvSpPr>
          <p:cNvPr id="3" name="Text Placeholder 2">
            <a:extLst>
              <a:ext uri="{FF2B5EF4-FFF2-40B4-BE49-F238E27FC236}">
                <a16:creationId xmlns:a16="http://schemas.microsoft.com/office/drawing/2014/main" id="{2AFD9081-20FB-41F1-80C9-7557B2040B5D}"/>
              </a:ext>
            </a:extLst>
          </p:cNvPr>
          <p:cNvSpPr>
            <a:spLocks noGrp="1"/>
          </p:cNvSpPr>
          <p:nvPr>
            <p:ph type="body" idx="1"/>
          </p:nvPr>
        </p:nvSpPr>
        <p:spPr>
          <a:xfrm>
            <a:off x="169833" y="2174875"/>
            <a:ext cx="5189857" cy="576262"/>
          </a:xfrm>
        </p:spPr>
        <p:txBody>
          <a:bodyPr/>
          <a:lstStyle/>
          <a:p>
            <a:r>
              <a:rPr lang="en-US" dirty="0"/>
              <a:t>Bad Characters</a:t>
            </a:r>
          </a:p>
        </p:txBody>
      </p:sp>
      <p:sp>
        <p:nvSpPr>
          <p:cNvPr id="4" name="Content Placeholder 3">
            <a:extLst>
              <a:ext uri="{FF2B5EF4-FFF2-40B4-BE49-F238E27FC236}">
                <a16:creationId xmlns:a16="http://schemas.microsoft.com/office/drawing/2014/main" id="{058452F2-970D-4113-B4DE-3972BA8939CC}"/>
              </a:ext>
            </a:extLst>
          </p:cNvPr>
          <p:cNvSpPr>
            <a:spLocks noGrp="1"/>
          </p:cNvSpPr>
          <p:nvPr>
            <p:ph sz="half" idx="2"/>
          </p:nvPr>
        </p:nvSpPr>
        <p:spPr>
          <a:xfrm>
            <a:off x="169834" y="2751138"/>
            <a:ext cx="5189856" cy="3109913"/>
          </a:xfrm>
        </p:spPr>
        <p:txBody>
          <a:bodyPr>
            <a:normAutofit/>
          </a:bodyPr>
          <a:lstStyle/>
          <a:p>
            <a:r>
              <a:rPr lang="en-US" dirty="0"/>
              <a:t>After sending the bad character boiler at the target, we have to inspect the dump</a:t>
            </a:r>
          </a:p>
          <a:p>
            <a:r>
              <a:rPr lang="en-US" dirty="0"/>
              <a:t>There are automated methods, but it’s important to understand how to do this manually as well</a:t>
            </a:r>
          </a:p>
          <a:p>
            <a:r>
              <a:rPr lang="en-US" dirty="0" err="1"/>
              <a:t>Dostackbufferoverflowgood</a:t>
            </a:r>
            <a:r>
              <a:rPr lang="en-US" dirty="0"/>
              <a:t> has two bad characters – “\x00, \x0a”</a:t>
            </a:r>
          </a:p>
        </p:txBody>
      </p:sp>
      <p:pic>
        <p:nvPicPr>
          <p:cNvPr id="7" name="Picture 6" descr="A screenshot of a cell phone&#10;&#10;Description automatically generated">
            <a:extLst>
              <a:ext uri="{FF2B5EF4-FFF2-40B4-BE49-F238E27FC236}">
                <a16:creationId xmlns:a16="http://schemas.microsoft.com/office/drawing/2014/main" id="{248D9EBE-0900-4D9A-ADE5-7965BD9ECD27}"/>
              </a:ext>
            </a:extLst>
          </p:cNvPr>
          <p:cNvPicPr>
            <a:picLocks noChangeAspect="1"/>
          </p:cNvPicPr>
          <p:nvPr/>
        </p:nvPicPr>
        <p:blipFill>
          <a:blip r:embed="rId2"/>
          <a:stretch>
            <a:fillRect/>
          </a:stretch>
        </p:blipFill>
        <p:spPr>
          <a:xfrm>
            <a:off x="5501962" y="2097490"/>
            <a:ext cx="3305636" cy="3086531"/>
          </a:xfrm>
          <a:prstGeom prst="rect">
            <a:avLst/>
          </a:prstGeom>
        </p:spPr>
      </p:pic>
      <p:pic>
        <p:nvPicPr>
          <p:cNvPr id="9" name="Picture 8" descr="A picture containing computer, white&#10;&#10;Description automatically generated">
            <a:extLst>
              <a:ext uri="{FF2B5EF4-FFF2-40B4-BE49-F238E27FC236}">
                <a16:creationId xmlns:a16="http://schemas.microsoft.com/office/drawing/2014/main" id="{6B6166C4-9477-426D-8EDA-907D26F7536E}"/>
              </a:ext>
            </a:extLst>
          </p:cNvPr>
          <p:cNvPicPr>
            <a:picLocks noChangeAspect="1"/>
          </p:cNvPicPr>
          <p:nvPr/>
        </p:nvPicPr>
        <p:blipFill>
          <a:blip r:embed="rId3"/>
          <a:stretch>
            <a:fillRect/>
          </a:stretch>
        </p:blipFill>
        <p:spPr>
          <a:xfrm>
            <a:off x="8971837" y="2905123"/>
            <a:ext cx="2410161" cy="3505689"/>
          </a:xfrm>
          <a:prstGeom prst="rect">
            <a:avLst/>
          </a:prstGeom>
        </p:spPr>
      </p:pic>
    </p:spTree>
    <p:extLst>
      <p:ext uri="{BB962C8B-B14F-4D97-AF65-F5344CB8AC3E}">
        <p14:creationId xmlns:p14="http://schemas.microsoft.com/office/powerpoint/2010/main" val="42358517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185D2-BFE0-4A26-86AC-38A3702433E4}"/>
              </a:ext>
            </a:extLst>
          </p:cNvPr>
          <p:cNvSpPr>
            <a:spLocks noGrp="1"/>
          </p:cNvSpPr>
          <p:nvPr>
            <p:ph type="title"/>
          </p:nvPr>
        </p:nvSpPr>
        <p:spPr/>
        <p:txBody>
          <a:bodyPr/>
          <a:lstStyle/>
          <a:p>
            <a:r>
              <a:rPr lang="en-US" dirty="0"/>
              <a:t>Developing the Exploit</a:t>
            </a:r>
          </a:p>
        </p:txBody>
      </p:sp>
      <p:sp>
        <p:nvSpPr>
          <p:cNvPr id="3" name="Text Placeholder 2">
            <a:extLst>
              <a:ext uri="{FF2B5EF4-FFF2-40B4-BE49-F238E27FC236}">
                <a16:creationId xmlns:a16="http://schemas.microsoft.com/office/drawing/2014/main" id="{2AFD9081-20FB-41F1-80C9-7557B2040B5D}"/>
              </a:ext>
            </a:extLst>
          </p:cNvPr>
          <p:cNvSpPr>
            <a:spLocks noGrp="1"/>
          </p:cNvSpPr>
          <p:nvPr>
            <p:ph type="body" idx="1"/>
          </p:nvPr>
        </p:nvSpPr>
        <p:spPr>
          <a:xfrm>
            <a:off x="169833" y="2058701"/>
            <a:ext cx="5189857" cy="576262"/>
          </a:xfrm>
        </p:spPr>
        <p:txBody>
          <a:bodyPr/>
          <a:lstStyle/>
          <a:p>
            <a:r>
              <a:rPr lang="en-US" dirty="0"/>
              <a:t>Finding Our Hijack Command</a:t>
            </a:r>
          </a:p>
        </p:txBody>
      </p:sp>
      <p:sp>
        <p:nvSpPr>
          <p:cNvPr id="4" name="Content Placeholder 3">
            <a:extLst>
              <a:ext uri="{FF2B5EF4-FFF2-40B4-BE49-F238E27FC236}">
                <a16:creationId xmlns:a16="http://schemas.microsoft.com/office/drawing/2014/main" id="{058452F2-970D-4113-B4DE-3972BA8939CC}"/>
              </a:ext>
            </a:extLst>
          </p:cNvPr>
          <p:cNvSpPr>
            <a:spLocks noGrp="1"/>
          </p:cNvSpPr>
          <p:nvPr>
            <p:ph sz="half" idx="2"/>
          </p:nvPr>
        </p:nvSpPr>
        <p:spPr>
          <a:xfrm>
            <a:off x="169833" y="2751138"/>
            <a:ext cx="5189857" cy="3774790"/>
          </a:xfrm>
        </p:spPr>
        <p:txBody>
          <a:bodyPr>
            <a:normAutofit fontScale="92500" lnSpcReduction="20000"/>
          </a:bodyPr>
          <a:lstStyle/>
          <a:p>
            <a:r>
              <a:rPr lang="en-US" dirty="0"/>
              <a:t>Once we find the buffer offset, and other pre-exploit tasks, we need to find a command to hijack</a:t>
            </a:r>
          </a:p>
          <a:p>
            <a:r>
              <a:rPr lang="en-US" dirty="0"/>
              <a:t>Commonly CALL OR JMP ESP</a:t>
            </a:r>
          </a:p>
          <a:p>
            <a:r>
              <a:rPr lang="en-US" dirty="0"/>
              <a:t>Point to other addresses in the stack to continue the program flow</a:t>
            </a:r>
          </a:p>
          <a:p>
            <a:r>
              <a:rPr lang="en-US" dirty="0"/>
              <a:t>We hijack the Command and point it at our </a:t>
            </a:r>
            <a:r>
              <a:rPr lang="en-US" dirty="0" err="1"/>
              <a:t>shellcoding</a:t>
            </a:r>
            <a:r>
              <a:rPr lang="en-US" dirty="0"/>
              <a:t> instead</a:t>
            </a:r>
          </a:p>
          <a:p>
            <a:r>
              <a:rPr lang="en-US" dirty="0"/>
              <a:t>Mona Modules is the most useful</a:t>
            </a:r>
          </a:p>
          <a:p>
            <a:pPr lvl="1"/>
            <a:r>
              <a:rPr lang="en-US" dirty="0"/>
              <a:t>I’ve included a findjmp.exe in the resources that is useful as well</a:t>
            </a:r>
          </a:p>
          <a:p>
            <a:r>
              <a:rPr lang="en-US" dirty="0"/>
              <a:t>Update our exploit to include the JMP ESP as seen here</a:t>
            </a:r>
          </a:p>
        </p:txBody>
      </p:sp>
      <p:pic>
        <p:nvPicPr>
          <p:cNvPr id="6" name="Picture 5" descr="A screen shot of a computer&#10;&#10;Description automatically generated">
            <a:extLst>
              <a:ext uri="{FF2B5EF4-FFF2-40B4-BE49-F238E27FC236}">
                <a16:creationId xmlns:a16="http://schemas.microsoft.com/office/drawing/2014/main" id="{9E0FDE6B-1FFB-463E-A2C0-F65BF821A83A}"/>
              </a:ext>
            </a:extLst>
          </p:cNvPr>
          <p:cNvPicPr>
            <a:picLocks noChangeAspect="1"/>
          </p:cNvPicPr>
          <p:nvPr/>
        </p:nvPicPr>
        <p:blipFill>
          <a:blip r:embed="rId2"/>
          <a:stretch>
            <a:fillRect/>
          </a:stretch>
        </p:blipFill>
        <p:spPr>
          <a:xfrm>
            <a:off x="5359690" y="2226251"/>
            <a:ext cx="6537829" cy="1073114"/>
          </a:xfrm>
          <a:prstGeom prst="rect">
            <a:avLst/>
          </a:prstGeom>
        </p:spPr>
      </p:pic>
      <p:pic>
        <p:nvPicPr>
          <p:cNvPr id="10" name="Picture 9">
            <a:extLst>
              <a:ext uri="{FF2B5EF4-FFF2-40B4-BE49-F238E27FC236}">
                <a16:creationId xmlns:a16="http://schemas.microsoft.com/office/drawing/2014/main" id="{6857FFCC-1667-4301-8487-0BF9D865BD16}"/>
              </a:ext>
            </a:extLst>
          </p:cNvPr>
          <p:cNvPicPr>
            <a:picLocks noChangeAspect="1"/>
          </p:cNvPicPr>
          <p:nvPr/>
        </p:nvPicPr>
        <p:blipFill>
          <a:blip r:embed="rId3"/>
          <a:stretch>
            <a:fillRect/>
          </a:stretch>
        </p:blipFill>
        <p:spPr>
          <a:xfrm>
            <a:off x="5359690" y="3466915"/>
            <a:ext cx="6537829" cy="474918"/>
          </a:xfrm>
          <a:prstGeom prst="rect">
            <a:avLst/>
          </a:prstGeom>
        </p:spPr>
      </p:pic>
      <p:pic>
        <p:nvPicPr>
          <p:cNvPr id="12" name="Picture 11" descr="A screen shot of a computer&#10;&#10;Description automatically generated">
            <a:extLst>
              <a:ext uri="{FF2B5EF4-FFF2-40B4-BE49-F238E27FC236}">
                <a16:creationId xmlns:a16="http://schemas.microsoft.com/office/drawing/2014/main" id="{9F6AA3F5-60F9-4C87-A09E-AFB1F0C8DFE5}"/>
              </a:ext>
            </a:extLst>
          </p:cNvPr>
          <p:cNvPicPr>
            <a:picLocks noChangeAspect="1"/>
          </p:cNvPicPr>
          <p:nvPr/>
        </p:nvPicPr>
        <p:blipFill>
          <a:blip r:embed="rId4"/>
          <a:stretch>
            <a:fillRect/>
          </a:stretch>
        </p:blipFill>
        <p:spPr>
          <a:xfrm>
            <a:off x="7296302" y="4107978"/>
            <a:ext cx="4601217" cy="1943371"/>
          </a:xfrm>
          <a:prstGeom prst="rect">
            <a:avLst/>
          </a:prstGeom>
        </p:spPr>
      </p:pic>
    </p:spTree>
    <p:extLst>
      <p:ext uri="{BB962C8B-B14F-4D97-AF65-F5344CB8AC3E}">
        <p14:creationId xmlns:p14="http://schemas.microsoft.com/office/powerpoint/2010/main" val="33766320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185D2-BFE0-4A26-86AC-38A3702433E4}"/>
              </a:ext>
            </a:extLst>
          </p:cNvPr>
          <p:cNvSpPr>
            <a:spLocks noGrp="1"/>
          </p:cNvSpPr>
          <p:nvPr>
            <p:ph type="title"/>
          </p:nvPr>
        </p:nvSpPr>
        <p:spPr/>
        <p:txBody>
          <a:bodyPr/>
          <a:lstStyle/>
          <a:p>
            <a:r>
              <a:rPr lang="en-US" dirty="0"/>
              <a:t>Developing the Exploit</a:t>
            </a:r>
          </a:p>
        </p:txBody>
      </p:sp>
      <p:sp>
        <p:nvSpPr>
          <p:cNvPr id="3" name="Text Placeholder 2">
            <a:extLst>
              <a:ext uri="{FF2B5EF4-FFF2-40B4-BE49-F238E27FC236}">
                <a16:creationId xmlns:a16="http://schemas.microsoft.com/office/drawing/2014/main" id="{2AFD9081-20FB-41F1-80C9-7557B2040B5D}"/>
              </a:ext>
            </a:extLst>
          </p:cNvPr>
          <p:cNvSpPr>
            <a:spLocks noGrp="1"/>
          </p:cNvSpPr>
          <p:nvPr>
            <p:ph type="body" idx="1"/>
          </p:nvPr>
        </p:nvSpPr>
        <p:spPr>
          <a:xfrm>
            <a:off x="169833" y="2058701"/>
            <a:ext cx="5189857" cy="576262"/>
          </a:xfrm>
        </p:spPr>
        <p:txBody>
          <a:bodyPr/>
          <a:lstStyle/>
          <a:p>
            <a:r>
              <a:rPr lang="en-US" dirty="0"/>
              <a:t>Shellcode</a:t>
            </a:r>
          </a:p>
        </p:txBody>
      </p:sp>
      <p:sp>
        <p:nvSpPr>
          <p:cNvPr id="4" name="Content Placeholder 3">
            <a:extLst>
              <a:ext uri="{FF2B5EF4-FFF2-40B4-BE49-F238E27FC236}">
                <a16:creationId xmlns:a16="http://schemas.microsoft.com/office/drawing/2014/main" id="{058452F2-970D-4113-B4DE-3972BA8939CC}"/>
              </a:ext>
            </a:extLst>
          </p:cNvPr>
          <p:cNvSpPr>
            <a:spLocks noGrp="1"/>
          </p:cNvSpPr>
          <p:nvPr>
            <p:ph sz="half" idx="2"/>
          </p:nvPr>
        </p:nvSpPr>
        <p:spPr>
          <a:xfrm>
            <a:off x="169833" y="2751138"/>
            <a:ext cx="5189857" cy="3774790"/>
          </a:xfrm>
        </p:spPr>
        <p:txBody>
          <a:bodyPr>
            <a:normAutofit lnSpcReduction="10000"/>
          </a:bodyPr>
          <a:lstStyle/>
          <a:p>
            <a:r>
              <a:rPr lang="en-US" dirty="0"/>
              <a:t>Shellcode is a machine-readable command that allows us to instruct the machine to execute a command we issue</a:t>
            </a:r>
          </a:p>
          <a:p>
            <a:r>
              <a:rPr lang="en-US" dirty="0"/>
              <a:t>In Buffer Overflow exploitation at this level, we use the JMP or CALL ESP to point at our shellcode for execution, rather than the next step in the normal program execution flow</a:t>
            </a:r>
          </a:p>
          <a:p>
            <a:r>
              <a:rPr lang="en-US" dirty="0"/>
              <a:t>Can open calculators, modify user privileges, or create reverse shell calls</a:t>
            </a:r>
          </a:p>
          <a:p>
            <a:r>
              <a:rPr lang="en-US" dirty="0" err="1"/>
              <a:t>Msfvenom</a:t>
            </a:r>
            <a:r>
              <a:rPr lang="en-US" dirty="0"/>
              <a:t> is primarily used for shellcode generation</a:t>
            </a:r>
          </a:p>
        </p:txBody>
      </p:sp>
      <p:pic>
        <p:nvPicPr>
          <p:cNvPr id="7" name="Picture 6" descr="A screenshot of a cell phone&#10;&#10;Description automatically generated">
            <a:extLst>
              <a:ext uri="{FF2B5EF4-FFF2-40B4-BE49-F238E27FC236}">
                <a16:creationId xmlns:a16="http://schemas.microsoft.com/office/drawing/2014/main" id="{6A6EF949-9BE1-41E1-B8E5-406CD3947F35}"/>
              </a:ext>
            </a:extLst>
          </p:cNvPr>
          <p:cNvPicPr>
            <a:picLocks noChangeAspect="1"/>
          </p:cNvPicPr>
          <p:nvPr/>
        </p:nvPicPr>
        <p:blipFill>
          <a:blip r:embed="rId2"/>
          <a:stretch>
            <a:fillRect/>
          </a:stretch>
        </p:blipFill>
        <p:spPr>
          <a:xfrm>
            <a:off x="5539155" y="2058701"/>
            <a:ext cx="6203665" cy="4638776"/>
          </a:xfrm>
          <a:prstGeom prst="rect">
            <a:avLst/>
          </a:prstGeom>
        </p:spPr>
      </p:pic>
    </p:spTree>
    <p:extLst>
      <p:ext uri="{BB962C8B-B14F-4D97-AF65-F5344CB8AC3E}">
        <p14:creationId xmlns:p14="http://schemas.microsoft.com/office/powerpoint/2010/main" val="2408965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185D2-BFE0-4A26-86AC-38A3702433E4}"/>
              </a:ext>
            </a:extLst>
          </p:cNvPr>
          <p:cNvSpPr>
            <a:spLocks noGrp="1"/>
          </p:cNvSpPr>
          <p:nvPr>
            <p:ph type="title"/>
          </p:nvPr>
        </p:nvSpPr>
        <p:spPr/>
        <p:txBody>
          <a:bodyPr/>
          <a:lstStyle/>
          <a:p>
            <a:r>
              <a:rPr lang="en-US" dirty="0"/>
              <a:t>Developing the Exploit</a:t>
            </a:r>
          </a:p>
        </p:txBody>
      </p:sp>
      <p:sp>
        <p:nvSpPr>
          <p:cNvPr id="3" name="Text Placeholder 2">
            <a:extLst>
              <a:ext uri="{FF2B5EF4-FFF2-40B4-BE49-F238E27FC236}">
                <a16:creationId xmlns:a16="http://schemas.microsoft.com/office/drawing/2014/main" id="{2AFD9081-20FB-41F1-80C9-7557B2040B5D}"/>
              </a:ext>
            </a:extLst>
          </p:cNvPr>
          <p:cNvSpPr>
            <a:spLocks noGrp="1"/>
          </p:cNvSpPr>
          <p:nvPr>
            <p:ph type="body" idx="1"/>
          </p:nvPr>
        </p:nvSpPr>
        <p:spPr>
          <a:xfrm>
            <a:off x="169833" y="2058701"/>
            <a:ext cx="5189857" cy="576262"/>
          </a:xfrm>
        </p:spPr>
        <p:txBody>
          <a:bodyPr/>
          <a:lstStyle/>
          <a:p>
            <a:r>
              <a:rPr lang="en-US" dirty="0"/>
              <a:t>Shellcode</a:t>
            </a:r>
          </a:p>
        </p:txBody>
      </p:sp>
      <p:sp>
        <p:nvSpPr>
          <p:cNvPr id="4" name="Content Placeholder 3">
            <a:extLst>
              <a:ext uri="{FF2B5EF4-FFF2-40B4-BE49-F238E27FC236}">
                <a16:creationId xmlns:a16="http://schemas.microsoft.com/office/drawing/2014/main" id="{058452F2-970D-4113-B4DE-3972BA8939CC}"/>
              </a:ext>
            </a:extLst>
          </p:cNvPr>
          <p:cNvSpPr>
            <a:spLocks noGrp="1"/>
          </p:cNvSpPr>
          <p:nvPr>
            <p:ph sz="half" idx="2"/>
          </p:nvPr>
        </p:nvSpPr>
        <p:spPr>
          <a:xfrm>
            <a:off x="169833" y="2751138"/>
            <a:ext cx="5189857" cy="3774790"/>
          </a:xfrm>
        </p:spPr>
        <p:txBody>
          <a:bodyPr>
            <a:normAutofit/>
          </a:bodyPr>
          <a:lstStyle/>
          <a:p>
            <a:r>
              <a:rPr lang="en-US" dirty="0"/>
              <a:t>Once shellcode is generated, it is added to our exploit</a:t>
            </a:r>
          </a:p>
          <a:p>
            <a:r>
              <a:rPr lang="en-US" dirty="0"/>
              <a:t>Basic buffer overflows typically have shellcode added after the </a:t>
            </a:r>
            <a:r>
              <a:rPr lang="en-US" dirty="0" err="1"/>
              <a:t>nop</a:t>
            </a:r>
            <a:r>
              <a:rPr lang="en-US" dirty="0"/>
              <a:t> sled/padding</a:t>
            </a:r>
          </a:p>
          <a:p>
            <a:r>
              <a:rPr lang="en-US" dirty="0"/>
              <a:t>More advanced </a:t>
            </a:r>
            <a:r>
              <a:rPr lang="en-US" dirty="0" err="1"/>
              <a:t>shellcoding</a:t>
            </a:r>
            <a:r>
              <a:rPr lang="en-US" dirty="0"/>
              <a:t> and exploits may have the shellcode pointing at other shellcode, functions, commands, etc.</a:t>
            </a:r>
          </a:p>
          <a:p>
            <a:pPr lvl="1"/>
            <a:r>
              <a:rPr lang="en-US" dirty="0"/>
              <a:t>This is outside the scope of this basic overview today</a:t>
            </a:r>
          </a:p>
        </p:txBody>
      </p:sp>
      <p:pic>
        <p:nvPicPr>
          <p:cNvPr id="6" name="Picture 5">
            <a:extLst>
              <a:ext uri="{FF2B5EF4-FFF2-40B4-BE49-F238E27FC236}">
                <a16:creationId xmlns:a16="http://schemas.microsoft.com/office/drawing/2014/main" id="{5EF3E666-171F-4343-B8E6-60BF9C2203B2}"/>
              </a:ext>
            </a:extLst>
          </p:cNvPr>
          <p:cNvPicPr>
            <a:picLocks noChangeAspect="1"/>
          </p:cNvPicPr>
          <p:nvPr/>
        </p:nvPicPr>
        <p:blipFill>
          <a:blip r:embed="rId2"/>
          <a:stretch>
            <a:fillRect/>
          </a:stretch>
        </p:blipFill>
        <p:spPr>
          <a:xfrm>
            <a:off x="6524302" y="2058701"/>
            <a:ext cx="4760379" cy="4661376"/>
          </a:xfrm>
          <a:prstGeom prst="rect">
            <a:avLst/>
          </a:prstGeom>
        </p:spPr>
      </p:pic>
    </p:spTree>
    <p:extLst>
      <p:ext uri="{BB962C8B-B14F-4D97-AF65-F5344CB8AC3E}">
        <p14:creationId xmlns:p14="http://schemas.microsoft.com/office/powerpoint/2010/main" val="24078833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185D2-BFE0-4A26-86AC-38A3702433E4}"/>
              </a:ext>
            </a:extLst>
          </p:cNvPr>
          <p:cNvSpPr>
            <a:spLocks noGrp="1"/>
          </p:cNvSpPr>
          <p:nvPr>
            <p:ph type="title"/>
          </p:nvPr>
        </p:nvSpPr>
        <p:spPr/>
        <p:txBody>
          <a:bodyPr/>
          <a:lstStyle/>
          <a:p>
            <a:r>
              <a:rPr lang="en-US" dirty="0"/>
              <a:t>Exploitation</a:t>
            </a:r>
          </a:p>
        </p:txBody>
      </p:sp>
      <p:sp>
        <p:nvSpPr>
          <p:cNvPr id="3" name="Text Placeholder 2">
            <a:extLst>
              <a:ext uri="{FF2B5EF4-FFF2-40B4-BE49-F238E27FC236}">
                <a16:creationId xmlns:a16="http://schemas.microsoft.com/office/drawing/2014/main" id="{2AFD9081-20FB-41F1-80C9-7557B2040B5D}"/>
              </a:ext>
            </a:extLst>
          </p:cNvPr>
          <p:cNvSpPr>
            <a:spLocks noGrp="1"/>
          </p:cNvSpPr>
          <p:nvPr>
            <p:ph type="body" idx="1"/>
          </p:nvPr>
        </p:nvSpPr>
        <p:spPr>
          <a:xfrm>
            <a:off x="169833" y="2058701"/>
            <a:ext cx="5189857" cy="576262"/>
          </a:xfrm>
        </p:spPr>
        <p:txBody>
          <a:bodyPr/>
          <a:lstStyle/>
          <a:p>
            <a:r>
              <a:rPr lang="en-US" dirty="0"/>
              <a:t>Exploiting the Vulnerable Service</a:t>
            </a:r>
          </a:p>
        </p:txBody>
      </p:sp>
      <p:sp>
        <p:nvSpPr>
          <p:cNvPr id="4" name="Content Placeholder 3">
            <a:extLst>
              <a:ext uri="{FF2B5EF4-FFF2-40B4-BE49-F238E27FC236}">
                <a16:creationId xmlns:a16="http://schemas.microsoft.com/office/drawing/2014/main" id="{058452F2-970D-4113-B4DE-3972BA8939CC}"/>
              </a:ext>
            </a:extLst>
          </p:cNvPr>
          <p:cNvSpPr>
            <a:spLocks noGrp="1"/>
          </p:cNvSpPr>
          <p:nvPr>
            <p:ph sz="half" idx="2"/>
          </p:nvPr>
        </p:nvSpPr>
        <p:spPr>
          <a:xfrm>
            <a:off x="169833" y="2751138"/>
            <a:ext cx="5189857" cy="3774790"/>
          </a:xfrm>
        </p:spPr>
        <p:txBody>
          <a:bodyPr>
            <a:normAutofit/>
          </a:bodyPr>
          <a:lstStyle/>
          <a:p>
            <a:r>
              <a:rPr lang="en-US" dirty="0"/>
              <a:t>Once the exploit is developed, we want to test it in a local environment, if able</a:t>
            </a:r>
          </a:p>
          <a:p>
            <a:pPr lvl="1"/>
            <a:r>
              <a:rPr lang="en-US" dirty="0"/>
              <a:t>Buffer overflow exploitation commonly crashes the service and even the machine; locally testing first is vital when able</a:t>
            </a:r>
          </a:p>
          <a:p>
            <a:r>
              <a:rPr lang="en-US" dirty="0"/>
              <a:t>Usually a local success will equate to a remote success</a:t>
            </a:r>
          </a:p>
          <a:p>
            <a:pPr lvl="1"/>
            <a:r>
              <a:rPr lang="en-US" dirty="0"/>
              <a:t>Firewalls, architecture, and other factors may prevent, however</a:t>
            </a:r>
          </a:p>
          <a:p>
            <a:pPr lvl="1"/>
            <a:r>
              <a:rPr lang="en-US" dirty="0"/>
              <a:t>Port evasion is the easiest method of evading firewalls – use 80/443 when possible</a:t>
            </a:r>
          </a:p>
        </p:txBody>
      </p:sp>
      <p:pic>
        <p:nvPicPr>
          <p:cNvPr id="7" name="Picture 6" descr="A screenshot of a cell phone&#10;&#10;Description automatically generated">
            <a:extLst>
              <a:ext uri="{FF2B5EF4-FFF2-40B4-BE49-F238E27FC236}">
                <a16:creationId xmlns:a16="http://schemas.microsoft.com/office/drawing/2014/main" id="{F355B0A8-B13A-44C2-9EE1-EA4904F584CA}"/>
              </a:ext>
            </a:extLst>
          </p:cNvPr>
          <p:cNvPicPr>
            <a:picLocks noChangeAspect="1"/>
          </p:cNvPicPr>
          <p:nvPr/>
        </p:nvPicPr>
        <p:blipFill>
          <a:blip r:embed="rId2"/>
          <a:stretch>
            <a:fillRect/>
          </a:stretch>
        </p:blipFill>
        <p:spPr>
          <a:xfrm>
            <a:off x="5371914" y="3429000"/>
            <a:ext cx="6650253" cy="1843857"/>
          </a:xfrm>
          <a:prstGeom prst="rect">
            <a:avLst/>
          </a:prstGeom>
        </p:spPr>
      </p:pic>
    </p:spTree>
    <p:extLst>
      <p:ext uri="{BB962C8B-B14F-4D97-AF65-F5344CB8AC3E}">
        <p14:creationId xmlns:p14="http://schemas.microsoft.com/office/powerpoint/2010/main" val="16912133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185D2-BFE0-4A26-86AC-38A3702433E4}"/>
              </a:ext>
            </a:extLst>
          </p:cNvPr>
          <p:cNvSpPr>
            <a:spLocks noGrp="1"/>
          </p:cNvSpPr>
          <p:nvPr>
            <p:ph type="title"/>
          </p:nvPr>
        </p:nvSpPr>
        <p:spPr/>
        <p:txBody>
          <a:bodyPr/>
          <a:lstStyle/>
          <a:p>
            <a:r>
              <a:rPr lang="en-US" dirty="0"/>
              <a:t>Exploitation</a:t>
            </a:r>
          </a:p>
        </p:txBody>
      </p:sp>
      <p:sp>
        <p:nvSpPr>
          <p:cNvPr id="3" name="Text Placeholder 2">
            <a:extLst>
              <a:ext uri="{FF2B5EF4-FFF2-40B4-BE49-F238E27FC236}">
                <a16:creationId xmlns:a16="http://schemas.microsoft.com/office/drawing/2014/main" id="{2AFD9081-20FB-41F1-80C9-7557B2040B5D}"/>
              </a:ext>
            </a:extLst>
          </p:cNvPr>
          <p:cNvSpPr>
            <a:spLocks noGrp="1"/>
          </p:cNvSpPr>
          <p:nvPr>
            <p:ph type="body" idx="1"/>
          </p:nvPr>
        </p:nvSpPr>
        <p:spPr>
          <a:xfrm>
            <a:off x="169833" y="2058701"/>
            <a:ext cx="5189857" cy="576262"/>
          </a:xfrm>
        </p:spPr>
        <p:txBody>
          <a:bodyPr/>
          <a:lstStyle/>
          <a:p>
            <a:r>
              <a:rPr lang="en-US" dirty="0"/>
              <a:t>Exploitation</a:t>
            </a:r>
          </a:p>
        </p:txBody>
      </p:sp>
      <p:sp>
        <p:nvSpPr>
          <p:cNvPr id="4" name="Content Placeholder 3">
            <a:extLst>
              <a:ext uri="{FF2B5EF4-FFF2-40B4-BE49-F238E27FC236}">
                <a16:creationId xmlns:a16="http://schemas.microsoft.com/office/drawing/2014/main" id="{058452F2-970D-4113-B4DE-3972BA8939CC}"/>
              </a:ext>
            </a:extLst>
          </p:cNvPr>
          <p:cNvSpPr>
            <a:spLocks noGrp="1"/>
          </p:cNvSpPr>
          <p:nvPr>
            <p:ph sz="half" idx="2"/>
          </p:nvPr>
        </p:nvSpPr>
        <p:spPr>
          <a:xfrm>
            <a:off x="169833" y="2751138"/>
            <a:ext cx="5189857" cy="3774790"/>
          </a:xfrm>
        </p:spPr>
        <p:txBody>
          <a:bodyPr>
            <a:normAutofit/>
          </a:bodyPr>
          <a:lstStyle/>
          <a:p>
            <a:r>
              <a:rPr lang="en-US" dirty="0"/>
              <a:t>Reverse shells and user creation/privilege modification is common practice with </a:t>
            </a:r>
            <a:r>
              <a:rPr lang="en-US" dirty="0" err="1"/>
              <a:t>BoF</a:t>
            </a:r>
            <a:endParaRPr lang="en-US" dirty="0"/>
          </a:p>
          <a:p>
            <a:r>
              <a:rPr lang="en-US" dirty="0"/>
              <a:t>The privileges of the owner of the service is important and will provide you an equal level of access</a:t>
            </a:r>
          </a:p>
          <a:p>
            <a:r>
              <a:rPr lang="en-US" dirty="0"/>
              <a:t>User = User; Admin = Admin (usually)</a:t>
            </a:r>
          </a:p>
          <a:p>
            <a:r>
              <a:rPr lang="en-US" dirty="0"/>
              <a:t>Hard to tell who owns the service until after it has been exploited</a:t>
            </a:r>
          </a:p>
        </p:txBody>
      </p:sp>
      <p:pic>
        <p:nvPicPr>
          <p:cNvPr id="6" name="Picture 5" descr="A screen shot of a computer&#10;&#10;Description automatically generated">
            <a:extLst>
              <a:ext uri="{FF2B5EF4-FFF2-40B4-BE49-F238E27FC236}">
                <a16:creationId xmlns:a16="http://schemas.microsoft.com/office/drawing/2014/main" id="{5F2FA1DA-39B9-4AC6-988F-1A644114FB83}"/>
              </a:ext>
            </a:extLst>
          </p:cNvPr>
          <p:cNvPicPr>
            <a:picLocks noChangeAspect="1"/>
          </p:cNvPicPr>
          <p:nvPr/>
        </p:nvPicPr>
        <p:blipFill>
          <a:blip r:embed="rId2"/>
          <a:stretch>
            <a:fillRect/>
          </a:stretch>
        </p:blipFill>
        <p:spPr>
          <a:xfrm>
            <a:off x="6095999" y="2551493"/>
            <a:ext cx="5660138" cy="3487560"/>
          </a:xfrm>
          <a:prstGeom prst="rect">
            <a:avLst/>
          </a:prstGeom>
        </p:spPr>
      </p:pic>
    </p:spTree>
    <p:extLst>
      <p:ext uri="{BB962C8B-B14F-4D97-AF65-F5344CB8AC3E}">
        <p14:creationId xmlns:p14="http://schemas.microsoft.com/office/powerpoint/2010/main" val="28855648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9D903-8E1E-4C63-BD4B-07D63158CD8B}"/>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B1E6AE82-4644-47F0-A885-FCA6BCC6C072}"/>
              </a:ext>
            </a:extLst>
          </p:cNvPr>
          <p:cNvSpPr>
            <a:spLocks noGrp="1"/>
          </p:cNvSpPr>
          <p:nvPr>
            <p:ph idx="1"/>
          </p:nvPr>
        </p:nvSpPr>
        <p:spPr>
          <a:xfrm>
            <a:off x="251734" y="2212662"/>
            <a:ext cx="10554574" cy="4198150"/>
          </a:xfrm>
        </p:spPr>
        <p:txBody>
          <a:bodyPr>
            <a:normAutofit fontScale="92500" lnSpcReduction="10000"/>
          </a:bodyPr>
          <a:lstStyle/>
          <a:p>
            <a:r>
              <a:rPr lang="en-US" sz="3200" dirty="0">
                <a:hlinkClick r:id="rId2"/>
              </a:rPr>
              <a:t>https://twitter.com/joehelle</a:t>
            </a:r>
            <a:endParaRPr lang="en-US" sz="3200" dirty="0"/>
          </a:p>
          <a:p>
            <a:r>
              <a:rPr lang="en-US" sz="3200" dirty="0">
                <a:hlinkClick r:id="rId3"/>
              </a:rPr>
              <a:t>https://twitch.tv/themayor11/</a:t>
            </a:r>
            <a:endParaRPr lang="en-US" sz="3200" dirty="0"/>
          </a:p>
          <a:p>
            <a:pPr lvl="1"/>
            <a:r>
              <a:rPr lang="en-US" sz="3200" dirty="0"/>
              <a:t>Monday thru Friday 1pm EST</a:t>
            </a:r>
          </a:p>
          <a:p>
            <a:r>
              <a:rPr lang="en-US" sz="3200" dirty="0">
                <a:hlinkClick r:id="rId4"/>
              </a:rPr>
              <a:t>https://discord.gg/uzFuSmC</a:t>
            </a:r>
            <a:endParaRPr lang="en-US" sz="3200" dirty="0"/>
          </a:p>
          <a:p>
            <a:r>
              <a:rPr lang="en-US" sz="3200" dirty="0">
                <a:hlinkClick r:id="rId5"/>
              </a:rPr>
              <a:t>https://github.com/dievus/bufferoverflow</a:t>
            </a:r>
            <a:endParaRPr lang="en-US" sz="3200" dirty="0"/>
          </a:p>
          <a:p>
            <a:r>
              <a:rPr lang="en-US" sz="3200" dirty="0">
                <a:hlinkClick r:id="rId6"/>
              </a:rPr>
              <a:t>https://github.com/dievus/QCSpowerpoint</a:t>
            </a:r>
            <a:endParaRPr lang="en-US" sz="3200" dirty="0"/>
          </a:p>
          <a:p>
            <a:r>
              <a:rPr lang="en-US" sz="3200" dirty="0">
                <a:hlinkClick r:id="rId7"/>
              </a:rPr>
              <a:t>https://cybersecpadawan.com</a:t>
            </a:r>
            <a:endParaRPr lang="en-US" sz="3200" dirty="0"/>
          </a:p>
        </p:txBody>
      </p:sp>
    </p:spTree>
    <p:extLst>
      <p:ext uri="{BB962C8B-B14F-4D97-AF65-F5344CB8AC3E}">
        <p14:creationId xmlns:p14="http://schemas.microsoft.com/office/powerpoint/2010/main" val="214513078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docProps/app.xml><?xml version="1.0" encoding="utf-8"?>
<Properties xmlns="http://schemas.openxmlformats.org/officeDocument/2006/extended-properties" xmlns:vt="http://schemas.openxmlformats.org/officeDocument/2006/docPropsVTypes">
  <Template>TM03457503[[fn=Quotable]]</Template>
  <TotalTime>53</TotalTime>
  <Words>1166</Words>
  <Application>Microsoft Office PowerPoint</Application>
  <PresentationFormat>Widescreen</PresentationFormat>
  <Paragraphs>132</Paragraphs>
  <Slides>22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Century Gothic</vt:lpstr>
      <vt:lpstr>Wingdings 2</vt:lpstr>
      <vt:lpstr>Quotable</vt:lpstr>
      <vt:lpstr>Ruby Buffer Overflow Exploitation</vt:lpstr>
      <vt:lpstr>Overview</vt:lpstr>
      <vt:lpstr>Resources</vt:lpstr>
      <vt:lpstr>100,000-Foot Overview</vt:lpstr>
      <vt:lpstr>100,000-Foot Overview</vt:lpstr>
      <vt:lpstr>100,000-Foot Overview</vt:lpstr>
      <vt:lpstr>Vulnerable Functions</vt:lpstr>
      <vt:lpstr>Scanning and Enumerating</vt:lpstr>
      <vt:lpstr>Interacting via Pry</vt:lpstr>
      <vt:lpstr>Fuzzing</vt:lpstr>
      <vt:lpstr>Developing the Exploit</vt:lpstr>
      <vt:lpstr>Developing the Exploit</vt:lpstr>
      <vt:lpstr>Developing the Exploit</vt:lpstr>
      <vt:lpstr>Developing the Exploit</vt:lpstr>
      <vt:lpstr>Developing the Exploit</vt:lpstr>
      <vt:lpstr>Developing the Exploit</vt:lpstr>
      <vt:lpstr>Developing the Exploit</vt:lpstr>
      <vt:lpstr>Developing the Exploit</vt:lpstr>
      <vt:lpstr>Developing the Exploit</vt:lpstr>
      <vt:lpstr>Exploitation</vt:lpstr>
      <vt:lpstr>Exploitation</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Ruby Buffer Overflow Exploitation</dc:title>
  <dc:creator>Joseph Helle</dc:creator>
  <cp:lastModifiedBy>Joseph Helle</cp:lastModifiedBy>
  <cp:revision>9</cp:revision>
  <dcterms:created xsi:type="dcterms:W3CDTF">2020-06-20T17:11:14Z</dcterms:created>
  <dcterms:modified xsi:type="dcterms:W3CDTF">2020-06-20T18:13:19Z</dcterms:modified>
</cp:coreProperties>
</file>